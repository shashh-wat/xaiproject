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Images</c:v>
                </c:pt>
              </c:strCache>
            </c:strRef>
          </c:tx>
          <c:spPr>
            <a:solidFill>
              <a:srgbClr val="2C5F2D"/>
            </a:solidFill>
            <a:effectLst/>
          </c:spPr>
          <c:invertIfNegative val="0"/>
          <c:dLbls>
            <c:numFmt formatCode="#,##0" sourceLinked="0"/>
            <c:txPr>
              <a:bodyPr/>
              <a:lstStyle/>
              <a:p>
                <a:pPr>
                  <a:defRPr b="0" i="0" strike="noStrike" sz="900" u="none">
                    <a:solidFill>
                      <a:srgbClr val="1E2A1F"/>
                    </a:solidFill>
                    <a:latin typeface="Arial"/>
                  </a:defRPr>
                </a:pPr>
              </a:p>
            </c:txPr>
            <c:showLegendKey val="0"/>
            <c:showVal val="1"/>
            <c:showCatName val="0"/>
            <c:showSerName val="0"/>
            <c:showPercent val="0"/>
            <c:showBubbleSize val="0"/>
            <c:showLeaderLines val="0"/>
          </c:dLbls>
          <c:cat>
            <c:multiLvlStrRef>
              <c:f>Sheet1!$A$2:$A$16</c:f>
              <c:multiLvlStrCache>
                <c:ptCount val="15"/>
                <c:lvl>
                  <c:pt idx="0">
                    <c:v>Tomato_YellowLeaf_Curl_Virus</c:v>
                  </c:pt>
                  <c:pt idx="1">
                    <c:v>Tomato_Bacterial_spot</c:v>
                  </c:pt>
                  <c:pt idx="2">
                    <c:v>Tomato_Late_blight</c:v>
                  </c:pt>
                  <c:pt idx="3">
                    <c:v>Tomato_Septoria_leaf_spot</c:v>
                  </c:pt>
                  <c:pt idx="4">
                    <c:v>Tomato_Spider_mites</c:v>
                  </c:pt>
                  <c:pt idx="5">
                    <c:v>Tomato_healthy</c:v>
                  </c:pt>
                  <c:pt idx="6">
                    <c:v>Pepper_healthy</c:v>
                  </c:pt>
                  <c:pt idx="7">
                    <c:v>Tomato_Target_Spot</c:v>
                  </c:pt>
                  <c:pt idx="8">
                    <c:v>Potato_Early_blight</c:v>
                  </c:pt>
                  <c:pt idx="9">
                    <c:v>Potato_Late_blight</c:v>
                  </c:pt>
                  <c:pt idx="10">
                    <c:v>Tomato_Early_blight</c:v>
                  </c:pt>
                  <c:pt idx="11">
                    <c:v>Pepper_Bacterial_spot</c:v>
                  </c:pt>
                  <c:pt idx="12">
                    <c:v>Tomato_Leaf_Mold</c:v>
                  </c:pt>
                  <c:pt idx="13">
                    <c:v>Tomato_mosaic_virus</c:v>
                  </c:pt>
                  <c:pt idx="14">
                    <c:v>Potato_healthy</c:v>
                  </c:pt>
                </c:lvl>
              </c:multiLvlStrCache>
            </c:multiLvlStrRef>
          </c:cat>
          <c:val>
            <c:numRef>
              <c:f>Sheet1!$B$2:$B$16</c:f>
              <c:numCache>
                <c:formatCode>General</c:formatCode>
                <c:ptCount val="15"/>
                <c:pt idx="0">
                  <c:v>3208</c:v>
                </c:pt>
                <c:pt idx="1">
                  <c:v>2127</c:v>
                </c:pt>
                <c:pt idx="2">
                  <c:v>1909</c:v>
                </c:pt>
                <c:pt idx="3">
                  <c:v>1771</c:v>
                </c:pt>
                <c:pt idx="4">
                  <c:v>1676</c:v>
                </c:pt>
                <c:pt idx="5">
                  <c:v>1591</c:v>
                </c:pt>
                <c:pt idx="6">
                  <c:v>1478</c:v>
                </c:pt>
                <c:pt idx="7">
                  <c:v>1404</c:v>
                </c:pt>
                <c:pt idx="8">
                  <c:v>1000</c:v>
                </c:pt>
                <c:pt idx="9">
                  <c:v>1000</c:v>
                </c:pt>
                <c:pt idx="10">
                  <c:v>1000</c:v>
                </c:pt>
                <c:pt idx="11">
                  <c:v>997</c:v>
                </c:pt>
                <c:pt idx="12">
                  <c:v>952</c:v>
                </c:pt>
                <c:pt idx="13">
                  <c:v>373</c:v>
                </c:pt>
                <c:pt idx="14">
                  <c:v>152</c:v>
                </c:pt>
              </c:numCache>
            </c:numRef>
          </c:val>
        </c:ser>
        <c:dLbls>
          <c:numFmt formatCode="#,##0" sourceLinked="0"/>
          <c:txPr>
            <a:bodyPr/>
            <a:lstStyle/>
            <a:p>
              <a:pPr>
                <a:defRPr b="0" i="0" strike="noStrike" sz="900" u="none">
                  <a:solidFill>
                    <a:srgbClr val="1E2A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C6B5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2E8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B5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A1F"/>
                </a:solidFill>
                <a:latin typeface="Arial"/>
              </a:defRPr>
            </a:pPr>
            <a:r>
              <a:rPr sz="1400" b="0" i="0" u="none" strike="noStrike">
                <a:solidFill>
                  <a:srgbClr val="1E2A1F"/>
                </a:solidFill>
                <a:latin typeface="Arial"/>
              </a:rPr>
              <a:t>Share of predictions that change</a:t>
            </a:r>
          </a:p>
        </c:rich>
      </c:tx>
      <c:layout/>
      <c:overlay val="0"/>
    </c:title>
    <c:autoTitleDeleted val="0"/>
    <c:plotArea>
      <c:layout/>
      <c:barChart>
        <c:barDir val="col"/>
        <c:grouping val="clustered"/>
        <c:varyColors val="0"/>
        <c:ser>
          <c:idx val="0"/>
          <c:order val="0"/>
          <c:tx>
            <c:strRef>
              <c:f>Sheet1!$B$1</c:f>
              <c:strCache>
                <c:ptCount val="1"/>
                <c:pt idx="0">
                  <c:v>MobileNetV2</c:v>
                </c:pt>
              </c:strCache>
            </c:strRef>
          </c:tx>
          <c:spPr>
            <a:solidFill>
              <a:srgbClr val="2C5F2D"/>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Blur 0.2</c:v>
                  </c:pt>
                  <c:pt idx="1">
                    <c:v>Noise 0.05</c:v>
                  </c:pt>
                  <c:pt idx="2">
                    <c:v>Occlusion 0.1</c:v>
                  </c:pt>
                  <c:pt idx="3">
                    <c:v>Brightness +0.3</c:v>
                  </c:pt>
                </c:lvl>
              </c:multiLvlStrCache>
            </c:multiLvlStrRef>
          </c:cat>
          <c:val>
            <c:numRef>
              <c:f>Sheet1!$B$2:$B$5</c:f>
              <c:numCache>
                <c:formatCode>General</c:formatCode>
                <c:ptCount val="4"/>
                <c:pt idx="0">
                  <c:v>0.1</c:v>
                </c:pt>
                <c:pt idx="1">
                  <c:v>0.25</c:v>
                </c:pt>
                <c:pt idx="2">
                  <c:v>0.1</c:v>
                </c:pt>
                <c:pt idx="3">
                  <c:v>0.15</c:v>
                </c:pt>
              </c:numCache>
            </c:numRef>
          </c:val>
        </c:ser>
        <c:ser>
          <c:idx val="1"/>
          <c:order val="1"/>
          <c:tx>
            <c:strRef>
              <c:f>Sheet1!$C$1</c:f>
              <c:strCache>
                <c:ptCount val="1"/>
                <c:pt idx="0">
                  <c:v>ResNet50</c:v>
                </c:pt>
              </c:strCache>
            </c:strRef>
          </c:tx>
          <c:spPr>
            <a:solidFill>
              <a:srgbClr val="C05B3C"/>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Blur 0.2</c:v>
                  </c:pt>
                  <c:pt idx="1">
                    <c:v>Noise 0.05</c:v>
                  </c:pt>
                  <c:pt idx="2">
                    <c:v>Occlusion 0.1</c:v>
                  </c:pt>
                  <c:pt idx="3">
                    <c:v>Brightness +0.3</c:v>
                  </c:pt>
                </c:lvl>
              </c:multiLvlStrCache>
            </c:multiLvlStrRef>
          </c:cat>
          <c:val>
            <c:numRef>
              <c:f>Sheet1!$C$2:$C$5</c:f>
              <c:numCache>
                <c:formatCode>General</c:formatCode>
                <c:ptCount val="4"/>
                <c:pt idx="0">
                  <c:v>0.05</c:v>
                </c:pt>
                <c:pt idx="1">
                  <c:v>0.3</c:v>
                </c:pt>
                <c:pt idx="2">
                  <c:v>0.3</c:v>
                </c:pt>
                <c:pt idx="3">
                  <c:v>0.15</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5D"/>
                </a:solidFill>
                <a:latin typeface="Arial"/>
              </a:defRPr>
            </a:pPr>
            <a:endParaRPr lang="en-US"/>
          </a:p>
        </c:txPr>
        <c:crossAx val="2094734552"/>
        <c:crosses val="autoZero"/>
        <c:auto val="1"/>
        <c:lblAlgn val="ctr"/>
        <c:noMultiLvlLbl val="1"/>
      </c:catAx>
      <c:valAx>
        <c:axId val="2094734552"/>
        <c:scaling>
          <c:orientation val="minMax"/>
          <c:max val="0.4"/>
        </c:scaling>
        <c:delete val="0"/>
        <c:axPos val="l"/>
        <c:majorGridlines>
          <c:spPr>
            <a:ln w="12700" cap="flat">
              <a:solidFill>
                <a:srgbClr val="E2E8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5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Same image</c:v>
                </c:pt>
              </c:strCache>
            </c:strRef>
          </c:tx>
          <c:spPr>
            <a:solidFill>
              <a:srgbClr val="2C5F2D"/>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Grad-CAM and LIME</c:v>
                  </c:pt>
                  <c:pt idx="1">
                    <c:v>Grad-CAM and SHAP</c:v>
                  </c:pt>
                  <c:pt idx="2">
                    <c:v>SHAP and LIME</c:v>
                  </c:pt>
                </c:lvl>
              </c:multiLvlStrCache>
            </c:multiLvlStrRef>
          </c:cat>
          <c:val>
            <c:numRef>
              <c:f>Sheet1!$B$2:$B$4</c:f>
              <c:numCache>
                <c:formatCode>General</c:formatCode>
                <c:ptCount val="3"/>
                <c:pt idx="0">
                  <c:v>0.231</c:v>
                </c:pt>
                <c:pt idx="1">
                  <c:v>0.139</c:v>
                </c:pt>
                <c:pt idx="2">
                  <c:v>0.039</c:v>
                </c:pt>
              </c:numCache>
            </c:numRef>
          </c:val>
        </c:ser>
        <c:ser>
          <c:idx val="1"/>
          <c:order val="1"/>
          <c:tx>
            <c:strRef>
              <c:f>Sheet1!$C$1</c:f>
              <c:strCache>
                <c:ptCount val="1"/>
                <c:pt idx="0">
                  <c:v>Different images</c:v>
                </c:pt>
              </c:strCache>
            </c:strRef>
          </c:tx>
          <c:spPr>
            <a:solidFill>
              <a:srgbClr val="B8C4B3"/>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Grad-CAM and LIME</c:v>
                  </c:pt>
                  <c:pt idx="1">
                    <c:v>Grad-CAM and SHAP</c:v>
                  </c:pt>
                  <c:pt idx="2">
                    <c:v>SHAP and LIME</c:v>
                  </c:pt>
                </c:lvl>
              </c:multiLvlStrCache>
            </c:multiLvlStrRef>
          </c:cat>
          <c:val>
            <c:numRef>
              <c:f>Sheet1!$C$2:$C$4</c:f>
              <c:numCache>
                <c:formatCode>General</c:formatCode>
                <c:ptCount val="3"/>
                <c:pt idx="0">
                  <c:v>0.091</c:v>
                </c:pt>
                <c:pt idx="1">
                  <c:v>0.108</c:v>
                </c:pt>
                <c:pt idx="2">
                  <c:v>0.031</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5D"/>
                </a:solidFill>
                <a:latin typeface="Arial"/>
              </a:defRPr>
            </a:pPr>
            <a:endParaRPr lang="en-US"/>
          </a:p>
        </c:txPr>
        <c:crossAx val="2094734552"/>
        <c:crosses val="autoZero"/>
        <c:auto val="1"/>
        <c:lblAlgn val="ctr"/>
        <c:noMultiLvlLbl val="1"/>
      </c:catAx>
      <c:valAx>
        <c:axId val="2094734552"/>
        <c:scaling>
          <c:orientation val="minMax"/>
          <c:max val="0.3"/>
        </c:scaling>
        <c:delete val="0"/>
        <c:axPos val="l"/>
        <c:majorGridlines>
          <c:spPr>
            <a:ln w="12700" cap="flat">
              <a:solidFill>
                <a:srgbClr val="E2E8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5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Top-1 same image</c:v>
                </c:pt>
              </c:strCache>
            </c:strRef>
          </c:tx>
          <c:spPr>
            <a:solidFill>
              <a:srgbClr val="C05B3C"/>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05B3C"/>
              </a:solidFill>
              <a:effectLst/>
            </c:spPr>
          </c:dPt>
          <c:dPt>
            <c:idx val="1"/>
            <c:invertIfNegative val="0"/>
            <c:bubble3D val="0"/>
            <c:spPr>
              <a:solidFill>
                <a:srgbClr val="C05B3C"/>
              </a:solidFill>
              <a:effectLst/>
            </c:spPr>
          </c:dPt>
          <c:dPt>
            <c:idx val="2"/>
            <c:invertIfNegative val="0"/>
            <c:bubble3D val="0"/>
            <c:spPr>
              <a:solidFill>
                <a:srgbClr val="C05B3C"/>
              </a:solidFill>
              <a:effectLst/>
            </c:spPr>
          </c:dPt>
          <c:dPt>
            <c:idx val="3"/>
            <c:invertIfNegative val="0"/>
            <c:bubble3D val="0"/>
            <c:spPr>
              <a:solidFill>
                <a:srgbClr val="C05B3C"/>
              </a:solidFill>
              <a:effectLst/>
            </c:spPr>
          </c:dPt>
          <c:dPt>
            <c:idx val="4"/>
            <c:invertIfNegative val="0"/>
            <c:bubble3D val="0"/>
            <c:spPr>
              <a:solidFill>
                <a:srgbClr val="C05B3C"/>
              </a:solidFill>
              <a:effectLst/>
            </c:spPr>
          </c:dPt>
          <c:dPt>
            <c:idx val="5"/>
            <c:invertIfNegative val="0"/>
            <c:bubble3D val="0"/>
            <c:spPr>
              <a:solidFill>
                <a:srgbClr val="C05B3C"/>
              </a:solidFill>
              <a:effectLst/>
            </c:spPr>
          </c:dPt>
          <c:dPt>
            <c:idx val="6"/>
            <c:invertIfNegative val="0"/>
            <c:bubble3D val="0"/>
            <c:spPr>
              <a:solidFill>
                <a:srgbClr val="9AA79B"/>
              </a:solidFill>
              <a:effectLst/>
            </c:spPr>
          </c:dPt>
          <c:dPt>
            <c:idx val="7"/>
            <c:invertIfNegative val="0"/>
            <c:bubble3D val="0"/>
            <c:spPr>
              <a:solidFill>
                <a:srgbClr val="2C5F2D"/>
              </a:solidFill>
              <a:effectLst/>
            </c:spPr>
          </c:dPt>
          <c:dPt>
            <c:idx val="8"/>
            <c:invertIfNegative val="0"/>
            <c:bubble3D val="0"/>
            <c:spPr>
              <a:solidFill>
                <a:srgbClr val="D5DBD2"/>
              </a:solidFill>
              <a:effectLst/>
            </c:spPr>
          </c:dPt>
          <c:cat>
            <c:multiLvlStrRef>
              <c:f>Sheet1!$A$2:$A$10</c:f>
              <c:multiLvlStrCache>
                <c:ptCount val="9"/>
                <c:lvl>
                  <c:pt idx="0">
                    <c:v>Class label, 30 ep</c:v>
                  </c:pt>
                  <c:pt idx="1">
                    <c:v>Class label, 100 ep</c:v>
                  </c:pt>
                  <c:pt idx="2">
                    <c:v>Class label, 300 ep</c:v>
                  </c:pt>
                  <c:pt idx="3">
                    <c:v>Image label, 30 ep</c:v>
                  </c:pt>
                  <c:pt idx="4">
                    <c:v>Image label, 100 ep</c:v>
                  </c:pt>
                  <c:pt idx="5">
                    <c:v>Image label, 300 ep</c:v>
                  </c:pt>
                  <c:pt idx="6">
                    <c:v>Untrained encoder</c:v>
                  </c:pt>
                  <c:pt idx="7">
                    <c:v>Plain correlation</c:v>
                  </c:pt>
                  <c:pt idx="8">
                    <c:v>Chance</c:v>
                  </c:pt>
                </c:lvl>
              </c:multiLvlStrCache>
            </c:multiLvlStrRef>
          </c:cat>
          <c:val>
            <c:numRef>
              <c:f>Sheet1!$B$2:$B$10</c:f>
              <c:numCache>
                <c:formatCode>General</c:formatCode>
                <c:ptCount val="9"/>
                <c:pt idx="0">
                  <c:v>0.092</c:v>
                </c:pt>
                <c:pt idx="1">
                  <c:v>0.117</c:v>
                </c:pt>
                <c:pt idx="2">
                  <c:v>0.075</c:v>
                </c:pt>
                <c:pt idx="3">
                  <c:v>0.094</c:v>
                </c:pt>
                <c:pt idx="4">
                  <c:v>0.1</c:v>
                </c:pt>
                <c:pt idx="5">
                  <c:v>0.097</c:v>
                </c:pt>
                <c:pt idx="6">
                  <c:v>0.092</c:v>
                </c:pt>
                <c:pt idx="7">
                  <c:v>0.192</c:v>
                </c:pt>
                <c:pt idx="8">
                  <c:v>0.083</c:v>
                </c:pt>
              </c:numCache>
            </c:numRef>
          </c:val>
        </c:ser>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5D"/>
                </a:solidFill>
                <a:latin typeface="Arial"/>
              </a:defRPr>
            </a:pPr>
            <a:endParaRPr lang="en-US"/>
          </a:p>
        </c:txPr>
        <c:crossAx val="2094734552"/>
        <c:crosses val="autoZero"/>
        <c:auto val="1"/>
        <c:lblAlgn val="ctr"/>
        <c:noMultiLvlLbl val="1"/>
      </c:catAx>
      <c:valAx>
        <c:axId val="2094734552"/>
        <c:scaling>
          <c:orientation val="minMax"/>
          <c:max val="0.25"/>
        </c:scaling>
        <c:delete val="0"/>
        <c:axPos val="l"/>
        <c:majorGridlines>
          <c:spPr>
            <a:ln w="12700" cap="flat">
              <a:solidFill>
                <a:srgbClr val="E2E8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5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here. One line: we classify crop leaf diseases, explain the predictions three ways, and tested whether the explanations can be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objective came from the instructor: the explanations from SHAP, LIME and Grad-CAM need to be correlated. We suggested a Siamese / SupCon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assumed the 38-class, 54,000-image version. This Kaggle copy has 15 classes and 20,638 images. Docs 02 and RUN_LOG record the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maps are for the class the CNN predicted, and all three keep only evidence for that class, so they mean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outputs/eval classification reports and outputs/checkpoints histories. Per-class check computed from the two classification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IoU is the overlap of the top 25% of each heat map. Source: outputs/comparison/iou_raw.csv.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outputs/robustness/*_perturbation_summary.csv, sanity_checks output. The explanation changes before the prediction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this is our reading of the request. The spec is docs/13, the results docs/12.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outputs/correlate/analysis/mobilenet_v2_summary.json, raw_all_images. MobileNetV2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outputs/correlate/analysis/mobilenet_v2_cross_validation.json. Class label is the SupCon setup; image label is the usual Siamese setup. Standard deviations are in docs/12.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docs/figures/correlation_tsne_mobilenet_v2.png and docs/RUN_LOG.md (problems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warm-up image before the audience arrives so the models are loaded. Demo with MobileNetV2: the reference values and nearest-map lists exist for 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if time: more images and a less noisy SHAP, then ResNet50.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1A"/>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C5F2D">
              <a:alpha val="65000"/>
            </a:srgbClr>
          </a:solidFill>
          <a:ln/>
        </p:spPr>
      </p:sp>
      <p:sp>
        <p:nvSpPr>
          <p:cNvPr id="3" name="Text 1"/>
          <p:cNvSpPr/>
          <p:nvPr/>
        </p:nvSpPr>
        <p:spPr>
          <a:xfrm>
            <a:off x="731520" y="1554480"/>
            <a:ext cx="10058400" cy="365760"/>
          </a:xfrm>
          <a:prstGeom prst="rect">
            <a:avLst/>
          </a:prstGeom>
          <a:noFill/>
          <a:ln/>
        </p:spPr>
        <p:txBody>
          <a:bodyPr wrap="square" lIns="0" tIns="0" rIns="0" bIns="0" rtlCol="0" anchor="ctr"/>
          <a:lstStyle/>
          <a:p>
            <a:pPr indent="0" marL="0">
              <a:buNone/>
            </a:pPr>
            <a:r>
              <a:rPr lang="en-US" sz="1400" b="1" spc="300" kern="0" dirty="0">
                <a:solidFill>
                  <a:srgbClr val="97BC62"/>
                </a:solidFill>
                <a:latin typeface="Calibri" pitchFamily="34" charset="0"/>
                <a:ea typeface="Calibri" pitchFamily="34" charset="-122"/>
                <a:cs typeface="Calibri" pitchFamily="34" charset="-120"/>
              </a:rPr>
              <a:t>BCSE418L  ·  EXPLAINABLE AI  ·  AGRICULTURE</a:t>
            </a:r>
            <a:endParaRPr lang="en-US" sz="1400" dirty="0"/>
          </a:p>
        </p:txBody>
      </p:sp>
      <p:sp>
        <p:nvSpPr>
          <p:cNvPr id="4" name="Text 2"/>
          <p:cNvSpPr/>
          <p:nvPr/>
        </p:nvSpPr>
        <p:spPr>
          <a:xfrm>
            <a:off x="731520" y="2011680"/>
            <a:ext cx="105156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Explainable Crop Disease Detection</a:t>
            </a:r>
            <a:endParaRPr lang="en-US" sz="4600" dirty="0"/>
          </a:p>
        </p:txBody>
      </p:sp>
      <p:sp>
        <p:nvSpPr>
          <p:cNvPr id="5" name="Text 3"/>
          <p:cNvSpPr/>
          <p:nvPr/>
        </p:nvSpPr>
        <p:spPr>
          <a:xfrm>
            <a:off x="731520" y="3291840"/>
            <a:ext cx="8686800" cy="914400"/>
          </a:xfrm>
          <a:prstGeom prst="rect">
            <a:avLst/>
          </a:prstGeom>
          <a:noFill/>
          <a:ln/>
        </p:spPr>
        <p:txBody>
          <a:bodyPr wrap="square" lIns="0" tIns="0" rIns="0" bIns="0" rtlCol="0" anchor="ctr"/>
          <a:lstStyle/>
          <a:p>
            <a:pPr indent="0" marL="0">
              <a:buNone/>
            </a:pPr>
            <a:r>
              <a:rPr lang="en-US" sz="2000" dirty="0">
                <a:solidFill>
                  <a:srgbClr val="D7E4D2"/>
                </a:solidFill>
                <a:latin typeface="Calibri" pitchFamily="34" charset="0"/>
                <a:ea typeface="Calibri" pitchFamily="34" charset="-122"/>
                <a:cs typeface="Calibri" pitchFamily="34" charset="-120"/>
              </a:rPr>
              <a:t>Grad-CAM, SHAP and LIME on two CNNs, and a test of whether the three kinds of explanation can be linked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Problem and objectives</a:t>
            </a:r>
            <a:endParaRPr lang="en-US" sz="3200" dirty="0"/>
          </a:p>
        </p:txBody>
      </p:sp>
      <p:sp>
        <p:nvSpPr>
          <p:cNvPr id="3" name="Shape 1"/>
          <p:cNvSpPr/>
          <p:nvPr/>
        </p:nvSpPr>
        <p:spPr>
          <a:xfrm>
            <a:off x="548640" y="1371600"/>
            <a:ext cx="5120640" cy="4754880"/>
          </a:xfrm>
          <a:prstGeom prst="rect">
            <a:avLst/>
          </a:prstGeom>
          <a:solidFill>
            <a:srgbClr val="F1F5EE"/>
          </a:solidFill>
          <a:ln/>
        </p:spPr>
      </p:sp>
      <p:sp>
        <p:nvSpPr>
          <p:cNvPr id="4" name="Text 2"/>
          <p:cNvSpPr/>
          <p:nvPr/>
        </p:nvSpPr>
        <p:spPr>
          <a:xfrm>
            <a:off x="822960" y="1554480"/>
            <a:ext cx="4572000" cy="365760"/>
          </a:xfrm>
          <a:prstGeom prst="rect">
            <a:avLst/>
          </a:prstGeom>
          <a:noFill/>
          <a:ln/>
        </p:spPr>
        <p:txBody>
          <a:bodyPr wrap="square" lIns="0" tIns="0" rIns="0" bIns="0" rtlCol="0" anchor="ctr"/>
          <a:lstStyle/>
          <a:p>
            <a:pPr indent="0" marL="0">
              <a:buNone/>
            </a:pPr>
            <a:r>
              <a:rPr lang="en-US" sz="1400" b="1" dirty="0">
                <a:solidFill>
                  <a:srgbClr val="C05B3C"/>
                </a:solidFill>
                <a:latin typeface="Calibri" pitchFamily="34" charset="0"/>
                <a:ea typeface="Calibri" pitchFamily="34" charset="-122"/>
                <a:cs typeface="Calibri" pitchFamily="34" charset="-120"/>
              </a:rPr>
              <a:t>The problem</a:t>
            </a:r>
            <a:endParaRPr lang="en-US" sz="1400" dirty="0"/>
          </a:p>
        </p:txBody>
      </p:sp>
      <p:sp>
        <p:nvSpPr>
          <p:cNvPr id="5" name="Text 3"/>
          <p:cNvSpPr/>
          <p:nvPr/>
        </p:nvSpPr>
        <p:spPr>
          <a:xfrm>
            <a:off x="822960" y="1965960"/>
            <a:ext cx="4572000" cy="3291840"/>
          </a:xfrm>
          <a:prstGeom prst="rect">
            <a:avLst/>
          </a:prstGeom>
          <a:noFill/>
          <a:ln/>
        </p:spPr>
        <p:txBody>
          <a:bodyPr wrap="square" lIns="0" tIns="0" rIns="0" bIns="0" rtlCol="0" anchor="t"/>
          <a:lstStyle/>
          <a:p>
            <a:pPr indent="0" marL="0">
              <a:buNone/>
            </a:pPr>
            <a:r>
              <a:rPr lang="en-US" sz="1900" dirty="0">
                <a:solidFill>
                  <a:srgbClr val="1E2A1F"/>
                </a:solidFill>
                <a:latin typeface="Calibri" pitchFamily="34" charset="0"/>
                <a:ea typeface="Calibri" pitchFamily="34" charset="-122"/>
                <a:cs typeface="Calibri" pitchFamily="34" charset="-120"/>
              </a:rPr>
              <a:t>A CNN that labels a leaf as diseased gives no reason for its answer. Explanation methods give a reason, but each one answers in a different form: a heat map, a value per pixel, a weight per superpixel. It is not clear how far they agree.</a:t>
            </a:r>
            <a:endParaRPr lang="en-US" sz="1900" dirty="0"/>
          </a:p>
        </p:txBody>
      </p:sp>
      <p:sp>
        <p:nvSpPr>
          <p:cNvPr id="6" name="Text 4"/>
          <p:cNvSpPr/>
          <p:nvPr/>
        </p:nvSpPr>
        <p:spPr>
          <a:xfrm>
            <a:off x="6126480" y="1417320"/>
            <a:ext cx="5486400" cy="365760"/>
          </a:xfrm>
          <a:prstGeom prst="rect">
            <a:avLst/>
          </a:prstGeom>
          <a:noFill/>
          <a:ln/>
        </p:spPr>
        <p:txBody>
          <a:bodyPr wrap="square" lIns="0" tIns="0" rIns="0" bIns="0" rtlCol="0" anchor="ctr"/>
          <a:lstStyle/>
          <a:p>
            <a:pPr indent="0" marL="0">
              <a:buNone/>
            </a:pPr>
            <a:r>
              <a:rPr lang="en-US" sz="1400" b="1" dirty="0">
                <a:solidFill>
                  <a:srgbClr val="C05B3C"/>
                </a:solidFill>
                <a:latin typeface="Calibri" pitchFamily="34" charset="0"/>
                <a:ea typeface="Calibri" pitchFamily="34" charset="-122"/>
                <a:cs typeface="Calibri" pitchFamily="34" charset="-120"/>
              </a:rPr>
              <a:t>Objectives</a:t>
            </a:r>
            <a:endParaRPr lang="en-US" sz="1400" dirty="0"/>
          </a:p>
        </p:txBody>
      </p:sp>
      <p:sp>
        <p:nvSpPr>
          <p:cNvPr id="7" name="Text 5"/>
          <p:cNvSpPr/>
          <p:nvPr/>
        </p:nvSpPr>
        <p:spPr>
          <a:xfrm>
            <a:off x="6126480" y="1874520"/>
            <a:ext cx="5486400" cy="4023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E2A1F"/>
                </a:solidFill>
                <a:latin typeface="Calibri" pitchFamily="34" charset="0"/>
                <a:ea typeface="Calibri" pitchFamily="34" charset="-122"/>
                <a:cs typeface="Calibri" pitchFamily="34" charset="-120"/>
              </a:rPr>
              <a:t>Classify crop leaf diseases with two CNNs: MobileNetV2 and ResNet50</a:t>
            </a:r>
            <a:endParaRPr lang="en-US" sz="2000" dirty="0"/>
          </a:p>
          <a:p>
            <a:pPr marL="342900" indent="-342900">
              <a:spcAft>
                <a:spcPts val="1000"/>
              </a:spcAft>
              <a:buSzPct val="100000"/>
              <a:buChar char="•"/>
            </a:pPr>
            <a:r>
              <a:rPr lang="en-US" sz="2000" dirty="0">
                <a:solidFill>
                  <a:srgbClr val="1E2A1F"/>
                </a:solidFill>
                <a:latin typeface="Calibri" pitchFamily="34" charset="0"/>
                <a:ea typeface="Calibri" pitchFamily="34" charset="-122"/>
                <a:cs typeface="Calibri" pitchFamily="34" charset="-120"/>
              </a:rPr>
              <a:t>Explain each prediction with Grad-CAM, SHAP and LIME</a:t>
            </a:r>
            <a:endParaRPr lang="en-US" sz="2000" dirty="0"/>
          </a:p>
          <a:p>
            <a:pPr marL="342900" indent="-342900">
              <a:spcAft>
                <a:spcPts val="1000"/>
              </a:spcAft>
              <a:buSzPct val="100000"/>
              <a:buChar char="•"/>
            </a:pPr>
            <a:r>
              <a:rPr lang="en-US" sz="2000" dirty="0">
                <a:solidFill>
                  <a:srgbClr val="1E2A1F"/>
                </a:solidFill>
                <a:latin typeface="Calibri" pitchFamily="34" charset="0"/>
                <a:ea typeface="Calibri" pitchFamily="34" charset="-122"/>
                <a:cs typeface="Calibri" pitchFamily="34" charset="-120"/>
              </a:rPr>
              <a:t>Check that the explanations hold up: a sanity check and image changes</a:t>
            </a:r>
            <a:endParaRPr lang="en-US" sz="2000" dirty="0"/>
          </a:p>
          <a:p>
            <a:pPr marL="342900" indent="-342900">
              <a:spcAft>
                <a:spcPts val="1000"/>
              </a:spcAft>
              <a:buSzPct val="100000"/>
              <a:buChar char="•"/>
            </a:pPr>
            <a:r>
              <a:rPr lang="en-US" sz="2000" dirty="0">
                <a:solidFill>
                  <a:srgbClr val="1E2A1F"/>
                </a:solidFill>
                <a:latin typeface="Calibri" pitchFamily="34" charset="0"/>
                <a:ea typeface="Calibri" pitchFamily="34" charset="-122"/>
                <a:cs typeface="Calibri" pitchFamily="34" charset="-120"/>
              </a:rPr>
              <a:t>Link the three kinds of explanation to each other (the instructor's request)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Dataset: PlantVillage, Kaggle copy</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Pepper, Potato and Tomato leaves, lab photos on plain backgrounds</a:t>
            </a:r>
            <a:endParaRPr lang="en-US" sz="1600" dirty="0"/>
          </a:p>
        </p:txBody>
      </p:sp>
      <p:graphicFrame>
        <p:nvGraphicFramePr>
          <p:cNvPr id="4" name="Chart 0" descr=""/>
          <p:cNvGraphicFramePr/>
          <p:nvPr/>
        </p:nvGraphicFramePr>
        <p:xfrm>
          <a:off x="457200" y="15544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645920"/>
            <a:ext cx="3566160" cy="1234440"/>
          </a:xfrm>
          <a:prstGeom prst="roundRect">
            <a:avLst>
              <a:gd name="adj" fmla="val 5926"/>
            </a:avLst>
          </a:prstGeom>
          <a:solidFill>
            <a:srgbClr val="2C5F2D"/>
          </a:solidFill>
          <a:ln/>
        </p:spPr>
      </p:sp>
      <p:sp>
        <p:nvSpPr>
          <p:cNvPr id="6" name="Text 3"/>
          <p:cNvSpPr/>
          <p:nvPr/>
        </p:nvSpPr>
        <p:spPr>
          <a:xfrm>
            <a:off x="8138160" y="1737360"/>
            <a:ext cx="356616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20,638</a:t>
            </a:r>
            <a:endParaRPr lang="en-US" sz="3000" dirty="0"/>
          </a:p>
        </p:txBody>
      </p:sp>
      <p:sp>
        <p:nvSpPr>
          <p:cNvPr id="7" name="Text 4"/>
          <p:cNvSpPr/>
          <p:nvPr/>
        </p:nvSpPr>
        <p:spPr>
          <a:xfrm>
            <a:off x="8229600" y="2395728"/>
            <a:ext cx="3383280" cy="411480"/>
          </a:xfrm>
          <a:prstGeom prst="rect">
            <a:avLst/>
          </a:prstGeom>
          <a:noFill/>
          <a:ln/>
        </p:spPr>
        <p:txBody>
          <a:bodyPr wrap="square" lIns="0" tIns="0" rIns="0" bIns="0" rtlCol="0" anchor="ctr"/>
          <a:lstStyle/>
          <a:p>
            <a:pPr algn="ctr" indent="0" marL="0">
              <a:buNone/>
            </a:pPr>
            <a:r>
              <a:rPr lang="en-US" sz="1300" dirty="0">
                <a:solidFill>
                  <a:srgbClr val="E6EFE1"/>
                </a:solidFill>
                <a:latin typeface="Calibri" pitchFamily="34" charset="0"/>
                <a:ea typeface="Calibri" pitchFamily="34" charset="-122"/>
                <a:cs typeface="Calibri" pitchFamily="34" charset="-120"/>
              </a:rPr>
              <a:t>images in 15 classes</a:t>
            </a:r>
            <a:endParaRPr lang="en-US" sz="1300" dirty="0"/>
          </a:p>
        </p:txBody>
      </p:sp>
      <p:sp>
        <p:nvSpPr>
          <p:cNvPr id="8" name="Shape 5"/>
          <p:cNvSpPr/>
          <p:nvPr/>
        </p:nvSpPr>
        <p:spPr>
          <a:xfrm>
            <a:off x="8138160" y="3063240"/>
            <a:ext cx="3566160" cy="1234440"/>
          </a:xfrm>
          <a:prstGeom prst="roundRect">
            <a:avLst>
              <a:gd name="adj" fmla="val 5926"/>
            </a:avLst>
          </a:prstGeom>
          <a:solidFill>
            <a:srgbClr val="C05B3C"/>
          </a:solidFill>
          <a:ln/>
        </p:spPr>
      </p:sp>
      <p:sp>
        <p:nvSpPr>
          <p:cNvPr id="9" name="Text 6"/>
          <p:cNvSpPr/>
          <p:nvPr/>
        </p:nvSpPr>
        <p:spPr>
          <a:xfrm>
            <a:off x="8138160" y="3154680"/>
            <a:ext cx="356616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21 times</a:t>
            </a:r>
            <a:endParaRPr lang="en-US" sz="3000" dirty="0"/>
          </a:p>
        </p:txBody>
      </p:sp>
      <p:sp>
        <p:nvSpPr>
          <p:cNvPr id="10" name="Text 7"/>
          <p:cNvSpPr/>
          <p:nvPr/>
        </p:nvSpPr>
        <p:spPr>
          <a:xfrm>
            <a:off x="8229600" y="3813048"/>
            <a:ext cx="3383280" cy="411480"/>
          </a:xfrm>
          <a:prstGeom prst="rect">
            <a:avLst/>
          </a:prstGeom>
          <a:noFill/>
          <a:ln/>
        </p:spPr>
        <p:txBody>
          <a:bodyPr wrap="square" lIns="0" tIns="0" rIns="0" bIns="0" rtlCol="0" anchor="ctr"/>
          <a:lstStyle/>
          <a:p>
            <a:pPr algn="ctr" indent="0" marL="0">
              <a:buNone/>
            </a:pPr>
            <a:r>
              <a:rPr lang="en-US" sz="1300" dirty="0">
                <a:solidFill>
                  <a:srgbClr val="E6EFE1"/>
                </a:solidFill>
                <a:latin typeface="Calibri" pitchFamily="34" charset="0"/>
                <a:ea typeface="Calibri" pitchFamily="34" charset="-122"/>
                <a:cs typeface="Calibri" pitchFamily="34" charset="-120"/>
              </a:rPr>
              <a:t>largest class (3,208) vs smallest (152)</a:t>
            </a:r>
            <a:endParaRPr lang="en-US" sz="1300" dirty="0"/>
          </a:p>
        </p:txBody>
      </p:sp>
      <p:sp>
        <p:nvSpPr>
          <p:cNvPr id="11" name="Text 8"/>
          <p:cNvSpPr/>
          <p:nvPr/>
        </p:nvSpPr>
        <p:spPr>
          <a:xfrm>
            <a:off x="8138160" y="4526280"/>
            <a:ext cx="3566160" cy="822960"/>
          </a:xfrm>
          <a:prstGeom prst="rect">
            <a:avLst/>
          </a:prstGeom>
          <a:noFill/>
          <a:ln/>
        </p:spPr>
        <p:txBody>
          <a:bodyPr wrap="square" lIns="0" tIns="0" rIns="0" bIns="0" rtlCol="0" anchor="ctr"/>
          <a:lstStyle/>
          <a:p>
            <a:pPr indent="0" marL="0">
              <a:buNone/>
            </a:pPr>
            <a:r>
              <a:rPr lang="en-US" sz="1500" dirty="0">
                <a:solidFill>
                  <a:srgbClr val="1E2A1F"/>
                </a:solidFill>
                <a:latin typeface="Calibri" pitchFamily="34" charset="0"/>
                <a:ea typeface="Calibri" pitchFamily="34" charset="-122"/>
                <a:cs typeface="Calibri" pitchFamily="34" charset="-120"/>
              </a:rPr>
              <a:t>Split 70 / 15 / 15: 14,447 train, 3,097 validation, 3,094 test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Approach</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One CNN prediction, three explanations, one common form</a:t>
            </a:r>
            <a:endParaRPr lang="en-US" sz="1600" dirty="0"/>
          </a:p>
        </p:txBody>
      </p:sp>
      <p:sp>
        <p:nvSpPr>
          <p:cNvPr id="4" name="Shape 2"/>
          <p:cNvSpPr/>
          <p:nvPr/>
        </p:nvSpPr>
        <p:spPr>
          <a:xfrm>
            <a:off x="548640" y="2651760"/>
            <a:ext cx="1828800" cy="1280160"/>
          </a:xfrm>
          <a:prstGeom prst="roundRect">
            <a:avLst>
              <a:gd name="adj" fmla="val 5714"/>
            </a:avLst>
          </a:prstGeom>
          <a:solidFill>
            <a:srgbClr val="2C5F2D"/>
          </a:solidFill>
          <a:ln/>
        </p:spPr>
      </p:sp>
      <p:sp>
        <p:nvSpPr>
          <p:cNvPr id="5" name="Text 3"/>
          <p:cNvSpPr/>
          <p:nvPr/>
        </p:nvSpPr>
        <p:spPr>
          <a:xfrm>
            <a:off x="548640" y="2761488"/>
            <a:ext cx="182880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Leaf image</a:t>
            </a:r>
            <a:endParaRPr lang="en-US" sz="1600" dirty="0"/>
          </a:p>
        </p:txBody>
      </p:sp>
      <p:sp>
        <p:nvSpPr>
          <p:cNvPr id="6" name="Text 4"/>
          <p:cNvSpPr/>
          <p:nvPr/>
        </p:nvSpPr>
        <p:spPr>
          <a:xfrm>
            <a:off x="640080" y="3154680"/>
            <a:ext cx="164592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224 × 224</a:t>
            </a:r>
            <a:endParaRPr lang="en-US" sz="1200" dirty="0"/>
          </a:p>
        </p:txBody>
      </p:sp>
      <p:sp>
        <p:nvSpPr>
          <p:cNvPr id="7" name="Shape 5"/>
          <p:cNvSpPr/>
          <p:nvPr/>
        </p:nvSpPr>
        <p:spPr>
          <a:xfrm>
            <a:off x="2834640" y="2651760"/>
            <a:ext cx="2286000" cy="1280160"/>
          </a:xfrm>
          <a:prstGeom prst="roundRect">
            <a:avLst>
              <a:gd name="adj" fmla="val 5714"/>
            </a:avLst>
          </a:prstGeom>
          <a:solidFill>
            <a:srgbClr val="2C5F2D"/>
          </a:solidFill>
          <a:ln/>
        </p:spPr>
      </p:sp>
      <p:sp>
        <p:nvSpPr>
          <p:cNvPr id="8" name="Text 6"/>
          <p:cNvSpPr/>
          <p:nvPr/>
        </p:nvSpPr>
        <p:spPr>
          <a:xfrm>
            <a:off x="2834640" y="2761488"/>
            <a:ext cx="228600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CNN</a:t>
            </a:r>
            <a:endParaRPr lang="en-US" sz="1600" dirty="0"/>
          </a:p>
        </p:txBody>
      </p:sp>
      <p:sp>
        <p:nvSpPr>
          <p:cNvPr id="9" name="Text 7"/>
          <p:cNvSpPr/>
          <p:nvPr/>
        </p:nvSpPr>
        <p:spPr>
          <a:xfrm>
            <a:off x="2926080" y="3154680"/>
            <a:ext cx="210312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MobileNetV2 or ResNet50</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frozen backbone</a:t>
            </a:r>
            <a:endParaRPr lang="en-US" sz="1200" dirty="0"/>
          </a:p>
        </p:txBody>
      </p:sp>
      <p:sp>
        <p:nvSpPr>
          <p:cNvPr id="10" name="Shape 8"/>
          <p:cNvSpPr/>
          <p:nvPr/>
        </p:nvSpPr>
        <p:spPr>
          <a:xfrm>
            <a:off x="5577840" y="1828800"/>
            <a:ext cx="2377440" cy="914400"/>
          </a:xfrm>
          <a:prstGeom prst="roundRect">
            <a:avLst>
              <a:gd name="adj" fmla="val 8000"/>
            </a:avLst>
          </a:prstGeom>
          <a:solidFill>
            <a:srgbClr val="97BC62"/>
          </a:solidFill>
          <a:ln/>
        </p:spPr>
      </p:sp>
      <p:sp>
        <p:nvSpPr>
          <p:cNvPr id="11" name="Text 9"/>
          <p:cNvSpPr/>
          <p:nvPr/>
        </p:nvSpPr>
        <p:spPr>
          <a:xfrm>
            <a:off x="5577840" y="1938528"/>
            <a:ext cx="2377440" cy="411480"/>
          </a:xfrm>
          <a:prstGeom prst="rect">
            <a:avLst/>
          </a:prstGeom>
          <a:noFill/>
          <a:ln/>
        </p:spPr>
        <p:txBody>
          <a:bodyPr wrap="square" lIns="0" tIns="0" rIns="0" bIns="0" rtlCol="0" anchor="ctr"/>
          <a:lstStyle/>
          <a:p>
            <a:pPr algn="ctr" indent="0" marL="0">
              <a:buNone/>
            </a:pPr>
            <a:r>
              <a:rPr lang="en-US" sz="1600" b="1" dirty="0">
                <a:solidFill>
                  <a:srgbClr val="1E2A1F"/>
                </a:solidFill>
                <a:latin typeface="Calibri" pitchFamily="34" charset="0"/>
                <a:ea typeface="Calibri" pitchFamily="34" charset="-122"/>
                <a:cs typeface="Calibri" pitchFamily="34" charset="-120"/>
              </a:rPr>
              <a:t>Grad-CAM</a:t>
            </a:r>
            <a:endParaRPr lang="en-US" sz="1600" dirty="0"/>
          </a:p>
        </p:txBody>
      </p:sp>
      <p:sp>
        <p:nvSpPr>
          <p:cNvPr id="12" name="Text 10"/>
          <p:cNvSpPr/>
          <p:nvPr/>
        </p:nvSpPr>
        <p:spPr>
          <a:xfrm>
            <a:off x="5669280" y="2331720"/>
            <a:ext cx="2194560" cy="365760"/>
          </a:xfrm>
          <a:prstGeom prst="rect">
            <a:avLst/>
          </a:prstGeom>
          <a:noFill/>
          <a:ln/>
        </p:spPr>
        <p:txBody>
          <a:bodyPr wrap="square" lIns="0" tIns="0" rIns="0" bIns="0" rtlCol="0" anchor="ctr"/>
          <a:lstStyle/>
          <a:p>
            <a:pPr algn="ctr" indent="0" marL="0">
              <a:buNone/>
            </a:pPr>
            <a:r>
              <a:rPr lang="en-US" sz="1200" dirty="0">
                <a:solidFill>
                  <a:srgbClr val="1E2A1F"/>
                </a:solidFill>
                <a:latin typeface="Calibri" pitchFamily="34" charset="0"/>
                <a:ea typeface="Calibri" pitchFamily="34" charset="-122"/>
                <a:cs typeface="Calibri" pitchFamily="34" charset="-120"/>
              </a:rPr>
              <a:t>smooth heat map</a:t>
            </a:r>
            <a:endParaRPr lang="en-US" sz="1200" dirty="0"/>
          </a:p>
        </p:txBody>
      </p:sp>
      <p:sp>
        <p:nvSpPr>
          <p:cNvPr id="13" name="Shape 11"/>
          <p:cNvSpPr/>
          <p:nvPr/>
        </p:nvSpPr>
        <p:spPr>
          <a:xfrm>
            <a:off x="5577840" y="3017520"/>
            <a:ext cx="2377440" cy="914400"/>
          </a:xfrm>
          <a:prstGeom prst="roundRect">
            <a:avLst>
              <a:gd name="adj" fmla="val 8000"/>
            </a:avLst>
          </a:prstGeom>
          <a:solidFill>
            <a:srgbClr val="97BC62"/>
          </a:solidFill>
          <a:ln/>
        </p:spPr>
      </p:sp>
      <p:sp>
        <p:nvSpPr>
          <p:cNvPr id="14" name="Text 12"/>
          <p:cNvSpPr/>
          <p:nvPr/>
        </p:nvSpPr>
        <p:spPr>
          <a:xfrm>
            <a:off x="5577840" y="3127248"/>
            <a:ext cx="2377440" cy="411480"/>
          </a:xfrm>
          <a:prstGeom prst="rect">
            <a:avLst/>
          </a:prstGeom>
          <a:noFill/>
          <a:ln/>
        </p:spPr>
        <p:txBody>
          <a:bodyPr wrap="square" lIns="0" tIns="0" rIns="0" bIns="0" rtlCol="0" anchor="ctr"/>
          <a:lstStyle/>
          <a:p>
            <a:pPr algn="ctr" indent="0" marL="0">
              <a:buNone/>
            </a:pPr>
            <a:r>
              <a:rPr lang="en-US" sz="1600" b="1" dirty="0">
                <a:solidFill>
                  <a:srgbClr val="1E2A1F"/>
                </a:solidFill>
                <a:latin typeface="Calibri" pitchFamily="34" charset="0"/>
                <a:ea typeface="Calibri" pitchFamily="34" charset="-122"/>
                <a:cs typeface="Calibri" pitchFamily="34" charset="-120"/>
              </a:rPr>
              <a:t>SHAP</a:t>
            </a:r>
            <a:endParaRPr lang="en-US" sz="1600" dirty="0"/>
          </a:p>
        </p:txBody>
      </p:sp>
      <p:sp>
        <p:nvSpPr>
          <p:cNvPr id="15" name="Text 13"/>
          <p:cNvSpPr/>
          <p:nvPr/>
        </p:nvSpPr>
        <p:spPr>
          <a:xfrm>
            <a:off x="5669280" y="3520440"/>
            <a:ext cx="2194560" cy="365760"/>
          </a:xfrm>
          <a:prstGeom prst="rect">
            <a:avLst/>
          </a:prstGeom>
          <a:noFill/>
          <a:ln/>
        </p:spPr>
        <p:txBody>
          <a:bodyPr wrap="square" lIns="0" tIns="0" rIns="0" bIns="0" rtlCol="0" anchor="ctr"/>
          <a:lstStyle/>
          <a:p>
            <a:pPr algn="ctr" indent="0" marL="0">
              <a:buNone/>
            </a:pPr>
            <a:r>
              <a:rPr lang="en-US" sz="1200" dirty="0">
                <a:solidFill>
                  <a:srgbClr val="1E2A1F"/>
                </a:solidFill>
                <a:latin typeface="Calibri" pitchFamily="34" charset="0"/>
                <a:ea typeface="Calibri" pitchFamily="34" charset="-122"/>
                <a:cs typeface="Calibri" pitchFamily="34" charset="-120"/>
              </a:rPr>
              <a:t>value per pixel</a:t>
            </a:r>
            <a:endParaRPr lang="en-US" sz="1200" dirty="0"/>
          </a:p>
        </p:txBody>
      </p:sp>
      <p:sp>
        <p:nvSpPr>
          <p:cNvPr id="16" name="Shape 14"/>
          <p:cNvSpPr/>
          <p:nvPr/>
        </p:nvSpPr>
        <p:spPr>
          <a:xfrm>
            <a:off x="5577840" y="4206240"/>
            <a:ext cx="2377440" cy="914400"/>
          </a:xfrm>
          <a:prstGeom prst="roundRect">
            <a:avLst>
              <a:gd name="adj" fmla="val 8000"/>
            </a:avLst>
          </a:prstGeom>
          <a:solidFill>
            <a:srgbClr val="97BC62"/>
          </a:solidFill>
          <a:ln/>
        </p:spPr>
      </p:sp>
      <p:sp>
        <p:nvSpPr>
          <p:cNvPr id="17" name="Text 15"/>
          <p:cNvSpPr/>
          <p:nvPr/>
        </p:nvSpPr>
        <p:spPr>
          <a:xfrm>
            <a:off x="5577840" y="4315968"/>
            <a:ext cx="2377440" cy="411480"/>
          </a:xfrm>
          <a:prstGeom prst="rect">
            <a:avLst/>
          </a:prstGeom>
          <a:noFill/>
          <a:ln/>
        </p:spPr>
        <p:txBody>
          <a:bodyPr wrap="square" lIns="0" tIns="0" rIns="0" bIns="0" rtlCol="0" anchor="ctr"/>
          <a:lstStyle/>
          <a:p>
            <a:pPr algn="ctr" indent="0" marL="0">
              <a:buNone/>
            </a:pPr>
            <a:r>
              <a:rPr lang="en-US" sz="1600" b="1" dirty="0">
                <a:solidFill>
                  <a:srgbClr val="1E2A1F"/>
                </a:solidFill>
                <a:latin typeface="Calibri" pitchFamily="34" charset="0"/>
                <a:ea typeface="Calibri" pitchFamily="34" charset="-122"/>
                <a:cs typeface="Calibri" pitchFamily="34" charset="-120"/>
              </a:rPr>
              <a:t>LIME</a:t>
            </a:r>
            <a:endParaRPr lang="en-US" sz="1600" dirty="0"/>
          </a:p>
        </p:txBody>
      </p:sp>
      <p:sp>
        <p:nvSpPr>
          <p:cNvPr id="18" name="Text 16"/>
          <p:cNvSpPr/>
          <p:nvPr/>
        </p:nvSpPr>
        <p:spPr>
          <a:xfrm>
            <a:off x="5669280" y="4709160"/>
            <a:ext cx="2194560" cy="365760"/>
          </a:xfrm>
          <a:prstGeom prst="rect">
            <a:avLst/>
          </a:prstGeom>
          <a:noFill/>
          <a:ln/>
        </p:spPr>
        <p:txBody>
          <a:bodyPr wrap="square" lIns="0" tIns="0" rIns="0" bIns="0" rtlCol="0" anchor="ctr"/>
          <a:lstStyle/>
          <a:p>
            <a:pPr algn="ctr" indent="0" marL="0">
              <a:buNone/>
            </a:pPr>
            <a:r>
              <a:rPr lang="en-US" sz="1200" dirty="0">
                <a:solidFill>
                  <a:srgbClr val="1E2A1F"/>
                </a:solidFill>
                <a:latin typeface="Calibri" pitchFamily="34" charset="0"/>
                <a:ea typeface="Calibri" pitchFamily="34" charset="-122"/>
                <a:cs typeface="Calibri" pitchFamily="34" charset="-120"/>
              </a:rPr>
              <a:t>weight per superpixel</a:t>
            </a:r>
            <a:endParaRPr lang="en-US" sz="1200" dirty="0"/>
          </a:p>
        </p:txBody>
      </p:sp>
      <p:sp>
        <p:nvSpPr>
          <p:cNvPr id="19" name="Shape 17"/>
          <p:cNvSpPr/>
          <p:nvPr/>
        </p:nvSpPr>
        <p:spPr>
          <a:xfrm>
            <a:off x="8412480" y="2651760"/>
            <a:ext cx="3200400" cy="1280160"/>
          </a:xfrm>
          <a:prstGeom prst="roundRect">
            <a:avLst>
              <a:gd name="adj" fmla="val 5714"/>
            </a:avLst>
          </a:prstGeom>
          <a:solidFill>
            <a:srgbClr val="C05B3C"/>
          </a:solidFill>
          <a:ln/>
        </p:spPr>
      </p:sp>
      <p:sp>
        <p:nvSpPr>
          <p:cNvPr id="20" name="Text 18"/>
          <p:cNvSpPr/>
          <p:nvPr/>
        </p:nvSpPr>
        <p:spPr>
          <a:xfrm>
            <a:off x="8412480" y="2761488"/>
            <a:ext cx="320040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64 × 64 map</a:t>
            </a:r>
            <a:endParaRPr lang="en-US" sz="1600" dirty="0"/>
          </a:p>
        </p:txBody>
      </p:sp>
      <p:sp>
        <p:nvSpPr>
          <p:cNvPr id="21" name="Text 19"/>
          <p:cNvSpPr/>
          <p:nvPr/>
        </p:nvSpPr>
        <p:spPr>
          <a:xfrm>
            <a:off x="8503920" y="3154680"/>
            <a:ext cx="301752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evidence for the predicted class, one per method</a:t>
            </a:r>
            <a:endParaRPr lang="en-US" sz="1200" dirty="0"/>
          </a:p>
        </p:txBody>
      </p:sp>
      <p:sp>
        <p:nvSpPr>
          <p:cNvPr id="22" name="Text 20"/>
          <p:cNvSpPr/>
          <p:nvPr/>
        </p:nvSpPr>
        <p:spPr>
          <a:xfrm>
            <a:off x="2377440" y="3154680"/>
            <a:ext cx="457200" cy="365760"/>
          </a:xfrm>
          <a:prstGeom prst="rect">
            <a:avLst/>
          </a:prstGeom>
          <a:noFill/>
          <a:ln/>
        </p:spPr>
        <p:txBody>
          <a:bodyPr wrap="square" lIns="0" tIns="0" rIns="0" bIns="0" rtlCol="0" anchor="ctr"/>
          <a:lstStyle/>
          <a:p>
            <a:pPr algn="ctr" indent="0" marL="0">
              <a:buNone/>
            </a:pPr>
            <a:r>
              <a:rPr lang="en-US" sz="2400" b="1" dirty="0">
                <a:solidFill>
                  <a:srgbClr val="5C6B5D"/>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5120640" y="3154680"/>
            <a:ext cx="457200" cy="365760"/>
          </a:xfrm>
          <a:prstGeom prst="rect">
            <a:avLst/>
          </a:prstGeom>
          <a:noFill/>
          <a:ln/>
        </p:spPr>
        <p:txBody>
          <a:bodyPr wrap="square" lIns="0" tIns="0" rIns="0" bIns="0" rtlCol="0" anchor="ctr"/>
          <a:lstStyle/>
          <a:p>
            <a:pPr algn="ctr" indent="0" marL="0">
              <a:buNone/>
            </a:pPr>
            <a:r>
              <a:rPr lang="en-US" sz="2400" b="1" dirty="0">
                <a:solidFill>
                  <a:srgbClr val="5C6B5D"/>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7955280" y="3154680"/>
            <a:ext cx="457200" cy="365760"/>
          </a:xfrm>
          <a:prstGeom prst="rect">
            <a:avLst/>
          </a:prstGeom>
          <a:noFill/>
          <a:ln/>
        </p:spPr>
        <p:txBody>
          <a:bodyPr wrap="square" lIns="0" tIns="0" rIns="0" bIns="0" rtlCol="0" anchor="ctr"/>
          <a:lstStyle/>
          <a:p>
            <a:pPr algn="ctr" indent="0" marL="0">
              <a:buNone/>
            </a:pPr>
            <a:r>
              <a:rPr lang="en-US" sz="2400" b="1" dirty="0">
                <a:solidFill>
                  <a:srgbClr val="5C6B5D"/>
                </a:solidFill>
                <a:latin typeface="Calibri" pitchFamily="34" charset="0"/>
                <a:ea typeface="Calibri" pitchFamily="34" charset="-122"/>
                <a:cs typeface="Calibri" pitchFamily="34" charset="-120"/>
              </a:rPr>
              <a:t>→</a:t>
            </a:r>
            <a:endParaRPr lang="en-US" sz="2400" dirty="0"/>
          </a:p>
        </p:txBody>
      </p:sp>
      <p:sp>
        <p:nvSpPr>
          <p:cNvPr id="25" name="Text 23"/>
          <p:cNvSpPr/>
          <p:nvPr/>
        </p:nvSpPr>
        <p:spPr>
          <a:xfrm>
            <a:off x="548640" y="5486400"/>
            <a:ext cx="11064240" cy="548640"/>
          </a:xfrm>
          <a:prstGeom prst="rect">
            <a:avLst/>
          </a:prstGeom>
          <a:noFill/>
          <a:ln/>
        </p:spPr>
        <p:txBody>
          <a:bodyPr wrap="square" lIns="0" tIns="0" rIns="0" bIns="0" rtlCol="0" anchor="ctr"/>
          <a:lstStyle/>
          <a:p>
            <a:pPr indent="0" marL="0">
              <a:buNone/>
            </a:pPr>
            <a:r>
              <a:rPr lang="en-US" sz="1800" dirty="0">
                <a:solidFill>
                  <a:srgbClr val="1E2A1F"/>
                </a:solidFill>
                <a:latin typeface="Calibri" pitchFamily="34" charset="0"/>
                <a:ea typeface="Calibri" pitchFamily="34" charset="-122"/>
                <a:cs typeface="Calibri" pitchFamily="34" charset="-120"/>
              </a:rPr>
              <a:t>Then two ways to compare the maps: Pearson correlation, and a trained Siamese encoder (SupCon loss).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The two classifiers</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ImageNet weights, backbone frozen, only the last layer trained, 3 epochs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108960"/>
                <a:gridCol w="2926080"/>
                <a:gridCol w="2514600"/>
                <a:gridCol w="2514600"/>
              </a:tblGrid>
              <a:tr h="54864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solidFill>
                      <a:srgbClr val="2C5F2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Best validation accuracy</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solidFill>
                      <a:srgbClr val="2C5F2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Test accuracy</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solidFill>
                      <a:srgbClr val="2C5F2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Test macro-F1</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solidFill>
                      <a:srgbClr val="2C5F2D"/>
                    </a:solidFill>
                  </a:tcPr>
                </a:tc>
              </a:tr>
              <a:tr h="548640">
                <a:tc>
                  <a:txBody>
                    <a:bodyPr/>
                    <a:lstStyle/>
                    <a:p>
                      <a:pPr algn="l" indent="0" marL="0">
                        <a:buNone/>
                      </a:pPr>
                      <a:r>
                        <a:rPr lang="en-US" sz="1800" b="1" dirty="0">
                          <a:solidFill>
                            <a:srgbClr val="1E2A1F"/>
                          </a:solidFill>
                          <a:latin typeface="Calibri" pitchFamily="34" charset="0"/>
                          <a:ea typeface="Calibri" pitchFamily="34" charset="-122"/>
                          <a:cs typeface="Calibri" pitchFamily="34" charset="-120"/>
                        </a:rPr>
                        <a:t>MobileNetV2</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c>
                  <a:txBody>
                    <a:bodyPr/>
                    <a:lstStyle/>
                    <a:p>
                      <a:pPr algn="ctr" indent="0" marL="0">
                        <a:buNone/>
                      </a:pPr>
                      <a:r>
                        <a:rPr lang="en-US" sz="1800" dirty="0">
                          <a:solidFill>
                            <a:srgbClr val="1E2A1F"/>
                          </a:solidFill>
                          <a:latin typeface="Calibri" pitchFamily="34" charset="0"/>
                          <a:ea typeface="Calibri" pitchFamily="34" charset="-122"/>
                          <a:cs typeface="Calibri" pitchFamily="34" charset="-120"/>
                        </a:rPr>
                        <a:t>0.917</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c>
                  <a:txBody>
                    <a:bodyPr/>
                    <a:lstStyle/>
                    <a:p>
                      <a:pPr algn="ctr" indent="0" marL="0">
                        <a:buNone/>
                      </a:pPr>
                      <a:r>
                        <a:rPr lang="en-US" sz="1800" dirty="0">
                          <a:solidFill>
                            <a:srgbClr val="1E2A1F"/>
                          </a:solidFill>
                          <a:latin typeface="Calibri" pitchFamily="34" charset="0"/>
                          <a:ea typeface="Calibri" pitchFamily="34" charset="-122"/>
                          <a:cs typeface="Calibri" pitchFamily="34" charset="-120"/>
                        </a:rPr>
                        <a:t>0.918</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c>
                  <a:txBody>
                    <a:bodyPr/>
                    <a:lstStyle/>
                    <a:p>
                      <a:pPr algn="ctr" indent="0" marL="0">
                        <a:buNone/>
                      </a:pPr>
                      <a:r>
                        <a:rPr lang="en-US" sz="1800" dirty="0">
                          <a:solidFill>
                            <a:srgbClr val="1E2A1F"/>
                          </a:solidFill>
                          <a:latin typeface="Calibri" pitchFamily="34" charset="0"/>
                          <a:ea typeface="Calibri" pitchFamily="34" charset="-122"/>
                          <a:cs typeface="Calibri" pitchFamily="34" charset="-120"/>
                        </a:rPr>
                        <a:t>0.902</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r>
              <a:tr h="548640">
                <a:tc>
                  <a:txBody>
                    <a:bodyPr/>
                    <a:lstStyle/>
                    <a:p>
                      <a:pPr algn="l" indent="0" marL="0">
                        <a:buNone/>
                      </a:pPr>
                      <a:r>
                        <a:rPr lang="en-US" sz="1800" b="1" dirty="0">
                          <a:solidFill>
                            <a:srgbClr val="1E2A1F"/>
                          </a:solidFill>
                          <a:latin typeface="Calibri" pitchFamily="34" charset="0"/>
                          <a:ea typeface="Calibri" pitchFamily="34" charset="-122"/>
                          <a:cs typeface="Calibri" pitchFamily="34" charset="-120"/>
                        </a:rPr>
                        <a:t>ResNet50</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c>
                  <a:txBody>
                    <a:bodyPr/>
                    <a:lstStyle/>
                    <a:p>
                      <a:pPr algn="ctr" indent="0" marL="0">
                        <a:buNone/>
                      </a:pPr>
                      <a:r>
                        <a:rPr lang="en-US" sz="1800" dirty="0">
                          <a:solidFill>
                            <a:srgbClr val="1E2A1F"/>
                          </a:solidFill>
                          <a:latin typeface="Calibri" pitchFamily="34" charset="0"/>
                          <a:ea typeface="Calibri" pitchFamily="34" charset="-122"/>
                          <a:cs typeface="Calibri" pitchFamily="34" charset="-120"/>
                        </a:rPr>
                        <a:t>0.893</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c>
                  <a:txBody>
                    <a:bodyPr/>
                    <a:lstStyle/>
                    <a:p>
                      <a:pPr algn="ctr" indent="0" marL="0">
                        <a:buNone/>
                      </a:pPr>
                      <a:r>
                        <a:rPr lang="en-US" sz="1800" dirty="0">
                          <a:solidFill>
                            <a:srgbClr val="1E2A1F"/>
                          </a:solidFill>
                          <a:latin typeface="Calibri" pitchFamily="34" charset="0"/>
                          <a:ea typeface="Calibri" pitchFamily="34" charset="-122"/>
                          <a:cs typeface="Calibri" pitchFamily="34" charset="-120"/>
                        </a:rPr>
                        <a:t>0.889</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c>
                  <a:txBody>
                    <a:bodyPr/>
                    <a:lstStyle/>
                    <a:p>
                      <a:pPr algn="ctr" indent="0" marL="0">
                        <a:buNone/>
                      </a:pPr>
                      <a:r>
                        <a:rPr lang="en-US" sz="1800" dirty="0">
                          <a:solidFill>
                            <a:srgbClr val="1E2A1F"/>
                          </a:solidFill>
                          <a:latin typeface="Calibri" pitchFamily="34" charset="0"/>
                          <a:ea typeface="Calibri" pitchFamily="34" charset="-122"/>
                          <a:cs typeface="Calibri" pitchFamily="34" charset="-120"/>
                        </a:rPr>
                        <a:t>0.883</a:t>
                      </a:r>
                      <a:endParaRPr lang="en-US" sz="1800" dirty="0">
                        <a:latin typeface="Calibri" charset="0"/>
                        <a:ea typeface="Calibri" charset="0"/>
                        <a:cs typeface="Calibri" charset="0"/>
                      </a:endParaRPr>
                    </a:p>
                  </a:txBody>
                  <a:tcPr marL="91440" marR="91440" marT="45720" marB="45720">
                    <a:lnL w="12700" cap="flat" cmpd="sng" algn="ctr">
                      <a:solidFill>
                        <a:srgbClr val="DFE5DC"/>
                      </a:solidFill>
                      <a:prstDash val="solid"/>
                      <a:round/>
                      <a:headEnd type="none" w="med" len="med"/>
                      <a:tailEnd type="none" w="med" len="med"/>
                    </a:lnL>
                    <a:lnR w="12700" cap="flat" cmpd="sng" algn="ctr">
                      <a:solidFill>
                        <a:srgbClr val="DFE5DC"/>
                      </a:solidFill>
                      <a:prstDash val="solid"/>
                      <a:round/>
                      <a:headEnd type="none" w="med" len="med"/>
                      <a:tailEnd type="none" w="med" len="med"/>
                    </a:lnR>
                    <a:lnT w="12700" cap="flat" cmpd="sng" algn="ctr">
                      <a:solidFill>
                        <a:srgbClr val="DFE5DC"/>
                      </a:solidFill>
                      <a:prstDash val="solid"/>
                      <a:round/>
                      <a:headEnd type="none" w="med" len="med"/>
                      <a:tailEnd type="none" w="med" len="med"/>
                    </a:lnT>
                    <a:lnB w="12700" cap="flat" cmpd="sng" algn="ctr">
                      <a:solidFill>
                        <a:srgbClr val="DFE5DC"/>
                      </a:solidFill>
                      <a:prstDash val="solid"/>
                      <a:round/>
                      <a:headEnd type="none" w="med" len="med"/>
                      <a:tailEnd type="none" w="med" len="med"/>
                    </a:lnB>
                  </a:tcPr>
                </a:tc>
              </a:tr>
            </a:tbl>
          </a:graphicData>
        </a:graphic>
      </p:graphicFrame>
      <p:sp>
        <p:nvSpPr>
          <p:cNvPr id="5" name="Text 2"/>
          <p:cNvSpPr/>
          <p:nvPr/>
        </p:nvSpPr>
        <p:spPr>
          <a:xfrm>
            <a:off x="548640" y="3840480"/>
            <a:ext cx="1106424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E2A1F"/>
                </a:solidFill>
                <a:latin typeface="Calibri" pitchFamily="34" charset="0"/>
                <a:ea typeface="Calibri" pitchFamily="34" charset="-122"/>
                <a:cs typeface="Calibri" pitchFamily="34" charset="-120"/>
              </a:rPr>
              <a:t>These are baselines, not tuned models. ResNet50 was still improving: validation 0.808, 0.869, 0.893</a:t>
            </a:r>
            <a:endParaRPr lang="en-US" sz="1800" dirty="0"/>
          </a:p>
          <a:p>
            <a:pPr marL="342900" indent="-342900">
              <a:spcAft>
                <a:spcPts val="1000"/>
              </a:spcAft>
              <a:buSzPct val="100000"/>
              <a:buChar char="•"/>
            </a:pPr>
            <a:r>
              <a:rPr lang="en-US" sz="1800" dirty="0">
                <a:solidFill>
                  <a:srgbClr val="1E2A1F"/>
                </a:solidFill>
                <a:latin typeface="Calibri" pitchFamily="34" charset="0"/>
                <a:ea typeface="Calibri" pitchFamily="34" charset="-122"/>
                <a:cs typeface="Calibri" pitchFamily="34" charset="-120"/>
              </a:rPr>
              <a:t>No clear link between class size and recall: Spearman -0.19 (MobileNetV2) and -0.20 (ResNet50), 15 classes</a:t>
            </a:r>
            <a:endParaRPr lang="en-US" sz="1800" dirty="0"/>
          </a:p>
          <a:p>
            <a:pPr marL="342900" indent="-342900">
              <a:spcAft>
                <a:spcPts val="1000"/>
              </a:spcAft>
              <a:buSzPct val="100000"/>
              <a:buChar char="•"/>
            </a:pPr>
            <a:r>
              <a:rPr lang="en-US" sz="1800" dirty="0">
                <a:solidFill>
                  <a:srgbClr val="1E2A1F"/>
                </a:solidFill>
                <a:latin typeface="Calibri" pitchFamily="34" charset="0"/>
                <a:ea typeface="Calibri" pitchFamily="34" charset="-122"/>
                <a:cs typeface="Calibri" pitchFamily="34" charset="-120"/>
              </a:rPr>
              <a:t>Lowest recall for both: Tomato early blight (0.74 and 0.62)</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Grad-CAM on both models</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Same leaf, same prediction (Potato late blight), overlap of the two heat maps: IoU 0.67</a:t>
            </a:r>
            <a:endParaRPr lang="en-US" sz="1600" dirty="0"/>
          </a:p>
        </p:txBody>
      </p:sp>
      <p:pic>
        <p:nvPicPr>
          <p:cNvPr id="4" name="Image 0" descr="/Users/shashwatsingh/Downloads/xai_project/docs/figures/gradcam_two_models_example.png">    </p:cNvPr>
          <p:cNvPicPr>
            <a:picLocks noChangeAspect="1"/>
          </p:cNvPicPr>
          <p:nvPr/>
        </p:nvPicPr>
        <p:blipFill>
          <a:blip r:embed="rId1"/>
          <a:stretch>
            <a:fillRect/>
          </a:stretch>
        </p:blipFill>
        <p:spPr>
          <a:xfrm>
            <a:off x="548640" y="1645920"/>
            <a:ext cx="7406640" cy="2468880"/>
          </a:xfrm>
          <a:prstGeom prst="rect">
            <a:avLst/>
          </a:prstGeom>
        </p:spPr>
      </p:pic>
      <p:sp>
        <p:nvSpPr>
          <p:cNvPr id="5" name="Shape 2"/>
          <p:cNvSpPr/>
          <p:nvPr/>
        </p:nvSpPr>
        <p:spPr>
          <a:xfrm>
            <a:off x="8412480" y="1645920"/>
            <a:ext cx="3200400" cy="1234440"/>
          </a:xfrm>
          <a:prstGeom prst="roundRect">
            <a:avLst>
              <a:gd name="adj" fmla="val 5926"/>
            </a:avLst>
          </a:prstGeom>
          <a:solidFill>
            <a:srgbClr val="2C5F2D"/>
          </a:solidFill>
          <a:ln/>
        </p:spPr>
      </p:sp>
      <p:sp>
        <p:nvSpPr>
          <p:cNvPr id="6" name="Text 3"/>
          <p:cNvSpPr/>
          <p:nvPr/>
        </p:nvSpPr>
        <p:spPr>
          <a:xfrm>
            <a:off x="8412480" y="1737360"/>
            <a:ext cx="32004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0.435</a:t>
            </a:r>
            <a:endParaRPr lang="en-US" sz="3000" dirty="0"/>
          </a:p>
        </p:txBody>
      </p:sp>
      <p:sp>
        <p:nvSpPr>
          <p:cNvPr id="7" name="Text 4"/>
          <p:cNvSpPr/>
          <p:nvPr/>
        </p:nvSpPr>
        <p:spPr>
          <a:xfrm>
            <a:off x="8503920" y="2395728"/>
            <a:ext cx="3017520" cy="411480"/>
          </a:xfrm>
          <a:prstGeom prst="rect">
            <a:avLst/>
          </a:prstGeom>
          <a:noFill/>
          <a:ln/>
        </p:spPr>
        <p:txBody>
          <a:bodyPr wrap="square" lIns="0" tIns="0" rIns="0" bIns="0" rtlCol="0" anchor="ctr"/>
          <a:lstStyle/>
          <a:p>
            <a:pPr algn="ctr" indent="0" marL="0">
              <a:buNone/>
            </a:pPr>
            <a:r>
              <a:rPr lang="en-US" sz="1300" dirty="0">
                <a:solidFill>
                  <a:srgbClr val="E6EFE1"/>
                </a:solidFill>
                <a:latin typeface="Calibri" pitchFamily="34" charset="0"/>
                <a:ea typeface="Calibri" pitchFamily="34" charset="-122"/>
                <a:cs typeface="Calibri" pitchFamily="34" charset="-120"/>
              </a:rPr>
              <a:t>mean IoU, 75 test images (median 0.452)</a:t>
            </a:r>
            <a:endParaRPr lang="en-US" sz="1300" dirty="0"/>
          </a:p>
        </p:txBody>
      </p:sp>
      <p:sp>
        <p:nvSpPr>
          <p:cNvPr id="8" name="Text 5"/>
          <p:cNvSpPr/>
          <p:nvPr/>
        </p:nvSpPr>
        <p:spPr>
          <a:xfrm>
            <a:off x="548640" y="4480560"/>
            <a:ext cx="11064240" cy="17373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E2A1F"/>
                </a:solidFill>
                <a:latin typeface="Calibri" pitchFamily="34" charset="0"/>
                <a:ea typeface="Calibri" pitchFamily="34" charset="-122"/>
                <a:cs typeface="Calibri" pitchFamily="34" charset="-120"/>
              </a:rPr>
              <a:t>Both models correct (67 images): mean IoU 0.456</a:t>
            </a:r>
            <a:endParaRPr lang="en-US" sz="1800" dirty="0"/>
          </a:p>
          <a:p>
            <a:pPr marL="342900" indent="-342900">
              <a:spcAft>
                <a:spcPts val="1000"/>
              </a:spcAft>
              <a:buSzPct val="100000"/>
              <a:buChar char="•"/>
            </a:pPr>
            <a:r>
              <a:rPr lang="en-US" sz="1800" dirty="0">
                <a:solidFill>
                  <a:srgbClr val="1E2A1F"/>
                </a:solidFill>
                <a:latin typeface="Calibri" pitchFamily="34" charset="0"/>
                <a:ea typeface="Calibri" pitchFamily="34" charset="-122"/>
                <a:cs typeface="Calibri" pitchFamily="34" charset="-120"/>
              </a:rPr>
              <a:t>At least one model wrong (8 images): mean IoU 0.259. Only 8 images, so a hint, not a result</a:t>
            </a:r>
            <a:endParaRPr lang="en-US" sz="1800" dirty="0"/>
          </a:p>
          <a:p>
            <a:pPr marL="342900" indent="-342900">
              <a:spcAft>
                <a:spcPts val="1000"/>
              </a:spcAft>
              <a:buSzPct val="100000"/>
              <a:buChar char="•"/>
            </a:pPr>
            <a:r>
              <a:rPr lang="en-US" sz="1800" dirty="0">
                <a:solidFill>
                  <a:srgbClr val="1E2A1F"/>
                </a:solidFill>
                <a:latin typeface="Calibri" pitchFamily="34" charset="0"/>
                <a:ea typeface="Calibri" pitchFamily="34" charset="-122"/>
                <a:cs typeface="Calibri" pitchFamily="34" charset="-120"/>
              </a:rPr>
              <a:t>SHAP and LIME maps were built for MobileNetV2 only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Do the explanations hold up?</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Four image changes at the mildest strength, 20 test images per model</a:t>
            </a:r>
            <a:endParaRPr lang="en-US" sz="1600" dirty="0"/>
          </a:p>
        </p:txBody>
      </p:sp>
      <p:graphicFrame>
        <p:nvGraphicFramePr>
          <p:cNvPr id="4" name="Chart 0" descr=""/>
          <p:cNvGraphicFramePr/>
          <p:nvPr/>
        </p:nvGraphicFramePr>
        <p:xfrm>
          <a:off x="457200" y="164592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98080" y="1737360"/>
            <a:ext cx="4206240" cy="4389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Grad-CAM overlap with the unchanged image drops to about 0.5 at these mildest strengths, and to 0.07–0.25 at the strongest</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Sanity check (1 image, MobileNetV2): the map already differs from the trained one after randomizing the last 20% of layers, as it should</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With 20 images, rates move in steps of 0.05</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Linking the three explanations</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The instructor's request, and how we read it</a:t>
            </a:r>
            <a:endParaRPr lang="en-US" sz="1600" dirty="0"/>
          </a:p>
        </p:txBody>
      </p:sp>
      <p:sp>
        <p:nvSpPr>
          <p:cNvPr id="4" name="Shape 2"/>
          <p:cNvSpPr/>
          <p:nvPr/>
        </p:nvSpPr>
        <p:spPr>
          <a:xfrm>
            <a:off x="548640" y="1645920"/>
            <a:ext cx="11064240" cy="1005840"/>
          </a:xfrm>
          <a:prstGeom prst="rect">
            <a:avLst/>
          </a:prstGeom>
          <a:solidFill>
            <a:srgbClr val="F1F5EE"/>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buNone/>
            </a:pPr>
            <a:r>
              <a:rPr lang="en-US" sz="2000" i="1" dirty="0">
                <a:solidFill>
                  <a:srgbClr val="1E2A1F"/>
                </a:solidFill>
                <a:latin typeface="Cambria" pitchFamily="34" charset="0"/>
                <a:ea typeface="Cambria" pitchFamily="34" charset="-122"/>
                <a:cs typeface="Cambria" pitchFamily="34" charset="-120"/>
              </a:rPr>
              <a:t>Take the three explanations of one prediction and tie them to each other, so that what one method shows can be carried over to the others.</a:t>
            </a:r>
            <a:endParaRPr lang="en-US" sz="2000" dirty="0"/>
          </a:p>
        </p:txBody>
      </p:sp>
      <p:sp>
        <p:nvSpPr>
          <p:cNvPr id="6" name="Text 4"/>
          <p:cNvSpPr/>
          <p:nvPr/>
        </p:nvSpPr>
        <p:spPr>
          <a:xfrm>
            <a:off x="548640" y="2926080"/>
            <a:ext cx="5303520" cy="365760"/>
          </a:xfrm>
          <a:prstGeom prst="rect">
            <a:avLst/>
          </a:prstGeom>
          <a:noFill/>
          <a:ln/>
        </p:spPr>
        <p:txBody>
          <a:bodyPr wrap="square" lIns="0" tIns="0" rIns="0" bIns="0" rtlCol="0" anchor="ctr"/>
          <a:lstStyle/>
          <a:p>
            <a:pPr indent="0" marL="0">
              <a:buNone/>
            </a:pPr>
            <a:r>
              <a:rPr lang="en-US" sz="1800" b="1" dirty="0">
                <a:solidFill>
                  <a:srgbClr val="2C5F2D"/>
                </a:solidFill>
                <a:latin typeface="Calibri" pitchFamily="34" charset="0"/>
                <a:ea typeface="Calibri" pitchFamily="34" charset="-122"/>
                <a:cs typeface="Calibri" pitchFamily="34" charset="-120"/>
              </a:rPr>
              <a:t>Way 1: plain correlation</a:t>
            </a:r>
            <a:endParaRPr lang="en-US" sz="1800" dirty="0"/>
          </a:p>
        </p:txBody>
      </p:sp>
      <p:sp>
        <p:nvSpPr>
          <p:cNvPr id="7" name="Text 5"/>
          <p:cNvSpPr/>
          <p:nvPr/>
        </p:nvSpPr>
        <p:spPr>
          <a:xfrm>
            <a:off x="548640" y="3383280"/>
            <a:ext cx="5303520" cy="1097280"/>
          </a:xfrm>
          <a:prstGeom prst="rect">
            <a:avLst/>
          </a:prstGeom>
          <a:noFill/>
          <a:ln/>
        </p:spPr>
        <p:txBody>
          <a:bodyPr wrap="square" lIns="0" tIns="0" rIns="0" bIns="0" rtlCol="0" anchor="t"/>
          <a:lstStyle/>
          <a:p>
            <a:pPr indent="0" marL="0">
              <a:buNone/>
            </a:pPr>
            <a:r>
              <a:rPr lang="en-US" sz="1700" dirty="0">
                <a:solidFill>
                  <a:srgbClr val="1E2A1F"/>
                </a:solidFill>
                <a:latin typeface="Calibri" pitchFamily="34" charset="0"/>
                <a:ea typeface="Calibri" pitchFamily="34" charset="-122"/>
                <a:cs typeface="Calibri" pitchFamily="34" charset="-120"/>
              </a:rPr>
              <a:t>Pearson correlation of two 64 × 64 maps. No training. This is the baseline.</a:t>
            </a:r>
            <a:endParaRPr lang="en-US" sz="1700" dirty="0"/>
          </a:p>
        </p:txBody>
      </p:sp>
      <p:sp>
        <p:nvSpPr>
          <p:cNvPr id="8" name="Text 6"/>
          <p:cNvSpPr/>
          <p:nvPr/>
        </p:nvSpPr>
        <p:spPr>
          <a:xfrm>
            <a:off x="6309360" y="2926080"/>
            <a:ext cx="5303520" cy="365760"/>
          </a:xfrm>
          <a:prstGeom prst="rect">
            <a:avLst/>
          </a:prstGeom>
          <a:noFill/>
          <a:ln/>
        </p:spPr>
        <p:txBody>
          <a:bodyPr wrap="square" lIns="0" tIns="0" rIns="0" bIns="0" rtlCol="0" anchor="ctr"/>
          <a:lstStyle/>
          <a:p>
            <a:pPr indent="0" marL="0">
              <a:buNone/>
            </a:pPr>
            <a:r>
              <a:rPr lang="en-US" sz="1800" b="1" dirty="0">
                <a:solidFill>
                  <a:srgbClr val="C05B3C"/>
                </a:solidFill>
                <a:latin typeface="Calibri" pitchFamily="34" charset="0"/>
                <a:ea typeface="Calibri" pitchFamily="34" charset="-122"/>
                <a:cs typeface="Calibri" pitchFamily="34" charset="-120"/>
              </a:rPr>
              <a:t>Way 2: a learned shared space</a:t>
            </a:r>
            <a:endParaRPr lang="en-US" sz="1800" dirty="0"/>
          </a:p>
        </p:txBody>
      </p:sp>
      <p:sp>
        <p:nvSpPr>
          <p:cNvPr id="9" name="Text 7"/>
          <p:cNvSpPr/>
          <p:nvPr/>
        </p:nvSpPr>
        <p:spPr>
          <a:xfrm>
            <a:off x="6309360" y="3383280"/>
            <a:ext cx="5303520" cy="1371600"/>
          </a:xfrm>
          <a:prstGeom prst="rect">
            <a:avLst/>
          </a:prstGeom>
          <a:noFill/>
          <a:ln/>
        </p:spPr>
        <p:txBody>
          <a:bodyPr wrap="square" lIns="0" tIns="0" rIns="0" bIns="0" rtlCol="0" anchor="t"/>
          <a:lstStyle/>
          <a:p>
            <a:pPr indent="0" marL="0">
              <a:buNone/>
            </a:pPr>
            <a:r>
              <a:rPr lang="en-US" sz="1700" dirty="0">
                <a:solidFill>
                  <a:srgbClr val="1E2A1F"/>
                </a:solidFill>
                <a:latin typeface="Calibri" pitchFamily="34" charset="0"/>
                <a:ea typeface="Calibri" pitchFamily="34" charset="-122"/>
                <a:cs typeface="Calibri" pitchFamily="34" charset="-120"/>
              </a:rPr>
              <a:t>A small Siamese encoder (31,840 parameters). The same weights process maps from all three methods. SupCon loss pulls maps of the same predicted class together.</a:t>
            </a:r>
            <a:endParaRPr lang="en-US" sz="1700" dirty="0"/>
          </a:p>
        </p:txBody>
      </p:sp>
      <p:sp>
        <p:nvSpPr>
          <p:cNvPr id="10" name="Text 8"/>
          <p:cNvSpPr/>
          <p:nvPr/>
        </p:nvSpPr>
        <p:spPr>
          <a:xfrm>
            <a:off x="548640" y="4846320"/>
            <a:ext cx="11064240" cy="1188720"/>
          </a:xfrm>
          <a:prstGeom prst="rect">
            <a:avLst/>
          </a:prstGeom>
          <a:noFill/>
          <a:ln/>
        </p:spPr>
        <p:txBody>
          <a:bodyPr wrap="square" lIns="0" tIns="0" rIns="0" bIns="0" rtlCol="0" anchor="t"/>
          <a:lstStyle/>
          <a:p>
            <a:pPr indent="0" marL="0">
              <a:buNone/>
            </a:pPr>
            <a:r>
              <a:rPr lang="en-US" sz="1700" dirty="0">
                <a:solidFill>
                  <a:srgbClr val="5C6B5D"/>
                </a:solidFill>
                <a:latin typeface="Calibri" pitchFamily="34" charset="0"/>
                <a:ea typeface="Calibri" pitchFamily="34" charset="-122"/>
                <a:cs typeface="Calibri" pitchFamily="34" charset="-120"/>
              </a:rPr>
              <a:t>How it was tested: on images the encoder never saw, 5-fold cross-validation over 60 images, against an untrained encoder, plain correlation and chance. Measure: for a map from one method, is the closest map from another method the same image?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Result 1: the methods agree a little</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Pearson correlation of the maps, all 60 images, no training</a:t>
            </a:r>
            <a:endParaRPr lang="en-US" sz="1600" dirty="0"/>
          </a:p>
        </p:txBody>
      </p:sp>
      <p:graphicFrame>
        <p:nvGraphicFramePr>
          <p:cNvPr id="4" name="Chart 0" descr=""/>
          <p:cNvGraphicFramePr/>
          <p:nvPr/>
        </p:nvGraphicFramePr>
        <p:xfrm>
          <a:off x="457200" y="164592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680960" y="1737360"/>
            <a:ext cx="4023360" cy="4389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Grad-CAM and LIME point at the same places: 0.23 against 0.09</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Grad-CAM and SHAP agree weakly: 0.14 against 0.11</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SHAP and LIME barely agree: 0.04 against 0.03. SHAP is noisy pixel by pixel</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Even the best pair is a weak link: the closest map is the right image 8% of the time (chance 1.7%)</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Result 2: the encoder did not beat correlation</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Top-1 same image on held-out images, mean over 5 folds (chance 0.083)</a:t>
            </a:r>
            <a:endParaRPr lang="en-US" sz="1600" dirty="0"/>
          </a:p>
        </p:txBody>
      </p:sp>
      <p:graphicFrame>
        <p:nvGraphicFramePr>
          <p:cNvPr id="4" name="Chart 0" descr=""/>
          <p:cNvGraphicFramePr/>
          <p:nvPr/>
        </p:nvGraphicFramePr>
        <p:xfrm>
          <a:off x="457200" y="1645920"/>
          <a:ext cx="76809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412480" y="1737360"/>
            <a:ext cx="3383280" cy="4389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Six trained settings, all reported. None beats the untrained encoder by more than the spread between folds (about 0.03)</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All are well below plain correlation (0.192)</a:t>
            </a:r>
            <a:endParaRPr lang="en-US" sz="1600" dirty="0"/>
          </a:p>
          <a:p>
            <a:pPr marL="342900" indent="-342900">
              <a:spcAft>
                <a:spcPts val="1000"/>
              </a:spcAft>
              <a:buSzPct val="100000"/>
              <a:buChar char="•"/>
            </a:pPr>
            <a:r>
              <a:rPr lang="en-US" sz="1600" dirty="0">
                <a:solidFill>
                  <a:srgbClr val="1E2A1F"/>
                </a:solidFill>
                <a:latin typeface="Calibri" pitchFamily="34" charset="0"/>
                <a:ea typeface="Calibri" pitchFamily="34" charset="-122"/>
                <a:cs typeface="Calibri" pitchFamily="34" charset="-120"/>
              </a:rPr>
              <a:t>Result: a learned link is not shown at this data size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Why the encoder did not link the methods</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Embeddings group by method, not by class</a:t>
            </a:r>
            <a:endParaRPr lang="en-US" sz="1600" dirty="0"/>
          </a:p>
        </p:txBody>
      </p:sp>
      <p:pic>
        <p:nvPicPr>
          <p:cNvPr id="4" name="Image 0" descr="/Users/shashwatsingh/Downloads/xai_project/docs/figures/correlation_tsne_mobilenet_v2.png">    </p:cNvPr>
          <p:cNvPicPr>
            <a:picLocks noChangeAspect="1"/>
          </p:cNvPicPr>
          <p:nvPr/>
        </p:nvPicPr>
        <p:blipFill>
          <a:blip r:embed="rId1"/>
          <a:stretch>
            <a:fillRect/>
          </a:stretch>
        </p:blipFill>
        <p:spPr>
          <a:xfrm>
            <a:off x="457200" y="1645920"/>
            <a:ext cx="7040880" cy="2926080"/>
          </a:xfrm>
          <a:prstGeom prst="rect">
            <a:avLst/>
          </a:prstGeom>
        </p:spPr>
      </p:pic>
      <p:sp>
        <p:nvSpPr>
          <p:cNvPr id="5" name="Text 2"/>
          <p:cNvSpPr/>
          <p:nvPr/>
        </p:nvSpPr>
        <p:spPr>
          <a:xfrm>
            <a:off x="7772400" y="1737360"/>
            <a:ext cx="402336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E2A1F"/>
                </a:solidFill>
                <a:latin typeface="Calibri" pitchFamily="34" charset="0"/>
                <a:ea typeface="Calibri" pitchFamily="34" charset="-122"/>
                <a:cs typeface="Calibri" pitchFamily="34" charset="-120"/>
              </a:rPr>
              <a:t>It learned to tell the methods apart, the opposite of the goal</a:t>
            </a:r>
            <a:endParaRPr lang="en-US" sz="1500" dirty="0"/>
          </a:p>
          <a:p>
            <a:pPr marL="342900" indent="-342900">
              <a:spcAft>
                <a:spcPts val="1000"/>
              </a:spcAft>
              <a:buSzPct val="100000"/>
              <a:buChar char="•"/>
            </a:pPr>
            <a:r>
              <a:rPr lang="en-US" sz="1500" dirty="0">
                <a:solidFill>
                  <a:srgbClr val="1E2A1F"/>
                </a:solidFill>
                <a:latin typeface="Calibri" pitchFamily="34" charset="0"/>
                <a:ea typeface="Calibri" pitchFamily="34" charset="-122"/>
                <a:cs typeface="Calibri" pitchFamily="34" charset="-120"/>
              </a:rPr>
              <a:t>Likely causes, not tested: 48 training images per fold; noisy SHAP maps; blocky LIME and smooth Grad-CAM are easy to tell apart</a:t>
            </a:r>
            <a:endParaRPr lang="en-US" sz="1500" dirty="0"/>
          </a:p>
          <a:p>
            <a:pPr marL="342900" indent="-342900">
              <a:spcAft>
                <a:spcPts val="1000"/>
              </a:spcAft>
              <a:buSzPct val="100000"/>
              <a:buChar char="•"/>
            </a:pPr>
            <a:r>
              <a:rPr lang="en-US" sz="1500" dirty="0">
                <a:solidFill>
                  <a:srgbClr val="1E2A1F"/>
                </a:solidFill>
                <a:latin typeface="Calibri" pitchFamily="34" charset="0"/>
                <a:ea typeface="Calibri" pitchFamily="34" charset="-122"/>
                <a:cs typeface="Calibri" pitchFamily="34" charset="-120"/>
              </a:rPr>
              <a:t>To test properly: a few hundred images (about 18 min per 60 on this laptop) and a less noisy SHAP</a:t>
            </a:r>
            <a:endParaRPr lang="en-US" sz="1500" dirty="0"/>
          </a:p>
        </p:txBody>
      </p:sp>
      <p:sp>
        <p:nvSpPr>
          <p:cNvPr id="6" name="Shape 3"/>
          <p:cNvSpPr/>
          <p:nvPr/>
        </p:nvSpPr>
        <p:spPr>
          <a:xfrm>
            <a:off x="548640" y="4892040"/>
            <a:ext cx="11064240" cy="1234440"/>
          </a:xfrm>
          <a:prstGeom prst="roundRect">
            <a:avLst>
              <a:gd name="adj" fmla="val 5926"/>
            </a:avLst>
          </a:prstGeom>
          <a:solidFill>
            <a:srgbClr val="F1F5EE"/>
          </a:solidFill>
          <a:ln/>
        </p:spPr>
      </p:sp>
      <p:sp>
        <p:nvSpPr>
          <p:cNvPr id="7" name="Text 4"/>
          <p:cNvSpPr/>
          <p:nvPr/>
        </p:nvSpPr>
        <p:spPr>
          <a:xfrm>
            <a:off x="822960" y="4892040"/>
            <a:ext cx="10515600" cy="1234440"/>
          </a:xfrm>
          <a:prstGeom prst="rect">
            <a:avLst/>
          </a:prstGeom>
          <a:noFill/>
          <a:ln/>
        </p:spPr>
        <p:txBody>
          <a:bodyPr wrap="square" lIns="0" tIns="0" rIns="0" bIns="0" rtlCol="0" anchor="ctr"/>
          <a:lstStyle/>
          <a:p>
            <a:pPr indent="0" marL="0">
              <a:buNone/>
            </a:pPr>
            <a:r>
              <a:rPr lang="en-US" sz="1600" b="1" dirty="0">
                <a:solidFill>
                  <a:srgbClr val="C05B3C"/>
                </a:solidFill>
                <a:latin typeface="Calibri" pitchFamily="34" charset="0"/>
                <a:ea typeface="Calibri" pitchFamily="34" charset="-122"/>
                <a:cs typeface="Calibri" pitchFamily="34" charset="-120"/>
              </a:rPr>
              <a:t>A bug that mattered. </a:t>
            </a:r>
            <a:pPr indent="0" marL="0">
              <a:buNone/>
            </a:pPr>
            <a:r>
              <a:rPr lang="en-US" sz="1600" dirty="0">
                <a:solidFill>
                  <a:srgbClr val="1E2A1F"/>
                </a:solidFill>
                <a:latin typeface="Calibri" pitchFamily="34" charset="0"/>
                <a:ea typeface="Calibri" pitchFamily="34" charset="-122"/>
                <a:cs typeface="Calibri" pitchFamily="34" charset="-120"/>
              </a:rPr>
              <a:t>The first encoder run also looked like pure chance. Looking at the maps showed my SHAP code returned horizontal stripes with the installed shap version. After the fix the whole grid was run again. These are the results shown.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2A1F"/>
                </a:solidFill>
                <a:latin typeface="Cambria" pitchFamily="34" charset="0"/>
                <a:ea typeface="Cambria" pitchFamily="34" charset="-122"/>
                <a:cs typeface="Cambria" pitchFamily="34" charset="-120"/>
              </a:rPr>
              <a:t>Demo: the web app</a:t>
            </a:r>
            <a:endParaRPr lang="en-US" sz="32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600" dirty="0">
                <a:solidFill>
                  <a:srgbClr val="5C6B5D"/>
                </a:solidFill>
                <a:latin typeface="Calibri" pitchFamily="34" charset="0"/>
                <a:ea typeface="Calibri" pitchFamily="34" charset="-122"/>
                <a:cs typeface="Calibri" pitchFamily="34" charset="-120"/>
              </a:rPr>
              <a:t>FastAPI backend serving a one-page frontend</a:t>
            </a:r>
            <a:endParaRPr lang="en-US" sz="1600" dirty="0"/>
          </a:p>
        </p:txBody>
      </p:sp>
      <p:sp>
        <p:nvSpPr>
          <p:cNvPr id="4" name="Text 2"/>
          <p:cNvSpPr/>
          <p:nvPr/>
        </p:nvSpPr>
        <p:spPr>
          <a:xfrm>
            <a:off x="548640" y="1737360"/>
            <a:ext cx="6583680" cy="438912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1E2A1F"/>
                </a:solidFill>
                <a:latin typeface="Calibri" pitchFamily="34" charset="0"/>
                <a:ea typeface="Calibri" pitchFamily="34" charset="-122"/>
                <a:cs typeface="Calibri" pitchFamily="34" charset="-120"/>
              </a:rPr>
              <a:t>Explain: upload a leaf, get the top-3 classes and Grad-CAM at once</a:t>
            </a:r>
            <a:endParaRPr lang="en-US" sz="1900" dirty="0"/>
          </a:p>
          <a:p>
            <a:pPr marL="342900" indent="-342900">
              <a:spcAft>
                <a:spcPts val="1000"/>
              </a:spcAft>
              <a:buSzPct val="100000"/>
              <a:buChar char="•"/>
            </a:pPr>
            <a:r>
              <a:rPr lang="en-US" sz="1900" dirty="0">
                <a:solidFill>
                  <a:srgbClr val="1E2A1F"/>
                </a:solidFill>
                <a:latin typeface="Calibri" pitchFamily="34" charset="0"/>
                <a:ea typeface="Calibri" pitchFamily="34" charset="-122"/>
                <a:cs typeface="Calibri" pitchFamily="34" charset="-120"/>
              </a:rPr>
              <a:t>About 17 seconds later: SHAP and LIME maps, and how well the three match, next to typical values for the same image and for different images</a:t>
            </a:r>
            <a:endParaRPr lang="en-US" sz="1900" dirty="0"/>
          </a:p>
          <a:p>
            <a:pPr marL="342900" indent="-342900">
              <a:spcAft>
                <a:spcPts val="1000"/>
              </a:spcAft>
              <a:buSzPct val="100000"/>
              <a:buChar char="•"/>
            </a:pPr>
            <a:r>
              <a:rPr lang="en-US" sz="1900" dirty="0">
                <a:solidFill>
                  <a:srgbClr val="1E2A1F"/>
                </a:solidFill>
                <a:latin typeface="Calibri" pitchFamily="34" charset="0"/>
                <a:ea typeface="Calibri" pitchFamily="34" charset="-122"/>
                <a:cs typeface="Calibri" pitchFamily="34" charset="-120"/>
              </a:rPr>
              <a:t>Compare models: Grad-CAM from both CNNs and their overlap</a:t>
            </a:r>
            <a:endParaRPr lang="en-US" sz="1900" dirty="0"/>
          </a:p>
          <a:p>
            <a:pPr marL="342900" indent="-342900">
              <a:spcAft>
                <a:spcPts val="1000"/>
              </a:spcAft>
              <a:buSzPct val="100000"/>
              <a:buChar char="•"/>
            </a:pPr>
            <a:r>
              <a:rPr lang="en-US" sz="1900" dirty="0">
                <a:solidFill>
                  <a:srgbClr val="1E2A1F"/>
                </a:solidFill>
                <a:latin typeface="Calibri" pitchFamily="34" charset="0"/>
                <a:ea typeface="Calibri" pitchFamily="34" charset="-122"/>
                <a:cs typeface="Calibri" pitchFamily="34" charset="-120"/>
              </a:rPr>
              <a:t>Results: accuracy, robustness charts, and the linking tables from this talk</a:t>
            </a:r>
            <a:endParaRPr lang="en-US" sz="1900" dirty="0"/>
          </a:p>
        </p:txBody>
      </p:sp>
      <p:sp>
        <p:nvSpPr>
          <p:cNvPr id="5" name="Shape 3"/>
          <p:cNvSpPr/>
          <p:nvPr/>
        </p:nvSpPr>
        <p:spPr>
          <a:xfrm>
            <a:off x="7589520" y="1737360"/>
            <a:ext cx="4023360" cy="2926080"/>
          </a:xfrm>
          <a:prstGeom prst="roundRect">
            <a:avLst>
              <a:gd name="adj" fmla="val 2500"/>
            </a:avLst>
          </a:prstGeom>
          <a:solidFill>
            <a:srgbClr val="16321A"/>
          </a:solidFill>
          <a:ln/>
        </p:spPr>
      </p:sp>
      <p:sp>
        <p:nvSpPr>
          <p:cNvPr id="6" name="Text 4"/>
          <p:cNvSpPr/>
          <p:nvPr/>
        </p:nvSpPr>
        <p:spPr>
          <a:xfrm>
            <a:off x="7772400" y="1828800"/>
            <a:ext cx="3657600" cy="2743200"/>
          </a:xfrm>
          <a:prstGeom prst="rect">
            <a:avLst/>
          </a:prstGeom>
          <a:noFill/>
          <a:ln/>
        </p:spPr>
        <p:txBody>
          <a:bodyPr wrap="square" lIns="0" tIns="0" rIns="0" bIns="0" rtlCol="0" anchor="ctr"/>
          <a:lstStyle/>
          <a:p>
            <a:pPr indent="0" marL="0">
              <a:buNone/>
            </a:pPr>
            <a:r>
              <a:rPr lang="en-US" sz="1400" dirty="0">
                <a:solidFill>
                  <a:srgbClr val="97BC62"/>
                </a:solidFill>
                <a:latin typeface="Courier New" pitchFamily="34" charset="0"/>
                <a:ea typeface="Courier New" pitchFamily="34" charset="-122"/>
                <a:cs typeface="Courier New" pitchFamily="34" charset="-120"/>
              </a:rPr>
              <a:t>FORCE_CPU=1 uvicorn</a:t>
            </a:r>
            <a:endParaRPr lang="en-US" sz="1400" dirty="0"/>
          </a:p>
          <a:p>
            <a:pPr indent="0" marL="0">
              <a:buNone/>
            </a:pPr>
            <a:r>
              <a:rPr lang="en-US" sz="1400" dirty="0">
                <a:solidFill>
                  <a:srgbClr val="97BC62"/>
                </a:solidFill>
                <a:latin typeface="Courier New" pitchFamily="34" charset="0"/>
                <a:ea typeface="Courier New" pitchFamily="34" charset="-122"/>
                <a:cs typeface="Courier New" pitchFamily="34" charset="-120"/>
              </a:rPr>
              <a:t>  src.api.main:app --port 8000</a:t>
            </a:r>
            <a:endParaRPr lang="en-US" sz="1400" dirty="0"/>
          </a:p>
          <a:p>
            <a:pPr indent="0" marL="0">
              <a:buNone/>
            </a:pPr>
            <a:endParaRPr lang="en-US" sz="1400" dirty="0"/>
          </a:p>
          <a:p>
            <a:pPr indent="0" marL="0">
              <a:buNone/>
            </a:pPr>
            <a:r>
              <a:rPr lang="en-US" sz="1400" dirty="0">
                <a:solidFill>
                  <a:srgbClr val="97BC62"/>
                </a:solidFill>
                <a:latin typeface="Courier New" pitchFamily="34" charset="0"/>
                <a:ea typeface="Courier New" pitchFamily="34" charset="-122"/>
                <a:cs typeface="Courier New" pitchFamily="34" charset="-120"/>
              </a:rPr>
              <a:t>open localhost:8000</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21A"/>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Conclusions and limits</a:t>
            </a:r>
            <a:endParaRPr lang="en-US" sz="3400" dirty="0"/>
          </a:p>
        </p:txBody>
      </p:sp>
      <p:sp>
        <p:nvSpPr>
          <p:cNvPr id="3" name="Text 1"/>
          <p:cNvSpPr/>
          <p:nvPr/>
        </p:nvSpPr>
        <p:spPr>
          <a:xfrm>
            <a:off x="731520" y="1463040"/>
            <a:ext cx="10698480" cy="43891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E6EFE1"/>
                </a:solidFill>
                <a:latin typeface="Calibri" pitchFamily="34" charset="0"/>
                <a:ea typeface="Calibri" pitchFamily="34" charset="-122"/>
                <a:cs typeface="Calibri" pitchFamily="34" charset="-120"/>
              </a:rPr>
              <a:t>Two CNNs classify 15 leaf diseases: 0.918 and 0.889 test accuracy</a:t>
            </a:r>
            <a:endParaRPr lang="en-US" sz="2000" dirty="0"/>
          </a:p>
          <a:p>
            <a:pPr marL="342900" indent="-342900">
              <a:spcAft>
                <a:spcPts val="1200"/>
              </a:spcAft>
              <a:buSzPct val="100000"/>
              <a:buChar char="•"/>
            </a:pPr>
            <a:r>
              <a:rPr lang="en-US" sz="2000" dirty="0">
                <a:solidFill>
                  <a:srgbClr val="E6EFE1"/>
                </a:solidFill>
                <a:latin typeface="Calibri" pitchFamily="34" charset="0"/>
                <a:ea typeface="Calibri" pitchFamily="34" charset="-122"/>
                <a:cs typeface="Calibri" pitchFamily="34" charset="-120"/>
              </a:rPr>
              <a:t>Grad-CAM, SHAP and LIME maps agree a little. Grad-CAM and LIME most (0.23 vs 0.09), SHAP least</a:t>
            </a:r>
            <a:endParaRPr lang="en-US" sz="2000" dirty="0"/>
          </a:p>
          <a:p>
            <a:pPr marL="342900" indent="-342900">
              <a:spcAft>
                <a:spcPts val="1200"/>
              </a:spcAft>
              <a:buSzPct val="100000"/>
              <a:buChar char="•"/>
            </a:pPr>
            <a:r>
              <a:rPr lang="en-US" sz="2000" dirty="0">
                <a:solidFill>
                  <a:srgbClr val="E6EFE1"/>
                </a:solidFill>
                <a:latin typeface="Calibri" pitchFamily="34" charset="0"/>
                <a:ea typeface="Calibri" pitchFamily="34" charset="-122"/>
                <a:cs typeface="Calibri" pitchFamily="34" charset="-120"/>
              </a:rPr>
              <a:t>A trained Siamese / SupCon encoder did not improve on plain correlation, tested on unseen images</a:t>
            </a:r>
            <a:endParaRPr lang="en-US" sz="2000" dirty="0"/>
          </a:p>
          <a:p>
            <a:pPr marL="342900" indent="-342900">
              <a:spcAft>
                <a:spcPts val="2400"/>
              </a:spcAft>
              <a:buSzPct val="100000"/>
              <a:buChar char="•"/>
            </a:pPr>
            <a:r>
              <a:rPr lang="en-US" sz="2000" dirty="0">
                <a:solidFill>
                  <a:srgbClr val="E6EFE1"/>
                </a:solidFill>
                <a:latin typeface="Calibri" pitchFamily="34" charset="0"/>
                <a:ea typeface="Calibri" pitchFamily="34" charset="-122"/>
                <a:cs typeface="Calibri" pitchFamily="34" charset="-120"/>
              </a:rPr>
              <a:t>Explanations change before predictions do when the image is altered</a:t>
            </a:r>
            <a:endParaRPr lang="en-US" sz="2000" dirty="0"/>
          </a:p>
          <a:p>
            <a:pPr marL="342900" indent="-342900">
              <a:buSzPct val="100000"/>
              <a:buChar char="•"/>
            </a:pPr>
            <a:r>
              <a:rPr lang="en-US" sz="2000" dirty="0">
                <a:solidFill>
                  <a:srgbClr val="97BC62"/>
                </a:solidFill>
                <a:latin typeface="Calibri" pitchFamily="34" charset="0"/>
                <a:ea typeface="Calibri" pitchFamily="34" charset="-122"/>
                <a:cs typeface="Calibri" pitchFamily="34" charset="-120"/>
              </a:rPr>
              <a:t>Limits: 60 images for the linking work, 20 for robustness, 1 for the sanity check; MobileNetV2 only for linking; 3-epoch baselines; lab photos only</a:t>
            </a:r>
            <a:endParaRPr lang="en-US" sz="2000" dirty="0"/>
          </a:p>
        </p:txBody>
      </p:sp>
      <p:sp>
        <p:nvSpPr>
          <p:cNvPr id="4" name="Text 2"/>
          <p:cNvSpPr/>
          <p:nvPr/>
        </p:nvSpPr>
        <p:spPr>
          <a:xfrm>
            <a:off x="731520" y="6035040"/>
            <a:ext cx="10515600" cy="365760"/>
          </a:xfrm>
          <a:prstGeom prst="rect">
            <a:avLst/>
          </a:prstGeom>
          <a:noFill/>
          <a:ln/>
        </p:spPr>
        <p:txBody>
          <a:bodyPr wrap="square" lIns="0" tIns="0" rIns="0" bIns="0" rtlCol="0" anchor="ctr"/>
          <a:lstStyle/>
          <a:p>
            <a:pPr indent="0" marL="0">
              <a:buNone/>
            </a:pPr>
            <a:r>
              <a:rPr lang="en-US" sz="1400" dirty="0">
                <a:solidFill>
                  <a:srgbClr val="97BC62"/>
                </a:solidFill>
                <a:latin typeface="Calibri" pitchFamily="34" charset="0"/>
                <a:ea typeface="Calibri" pitchFamily="34" charset="-122"/>
                <a:cs typeface="Calibri" pitchFamily="34" charset="-120"/>
              </a:rPr>
              <a:t>Code, docs and numbers: github.com/Shashh-wat/xaiproject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2026-10-28T10:30:14Z</dcterms:created>
  <dcterms:modified xsi:type="dcterms:W3CDTF">2026-10-28T10:30:14Z</dcterms:modified>
</cp:coreProperties>
</file>